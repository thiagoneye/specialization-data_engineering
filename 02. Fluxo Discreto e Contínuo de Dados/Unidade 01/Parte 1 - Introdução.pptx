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5" r:id="rId4"/>
    <p:sldMasterId id="2147483656" r:id="rId5"/>
    <p:sldMasterId id="2147483657" r:id="rId6"/>
    <p:sldMasterId id="2147483658" r:id="rId7"/>
    <p:sldMasterId id="2147483659" r:id="rId8"/>
    <p:sldMasterId id="2147483660" r:id="rId9"/>
    <p:sldMasterId id="2147483661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8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7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e8a3eda1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4e8a3eda16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e8a3eda1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4e8a3eda16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e8a3eda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4e8a3eda1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PARAÇÃO DE CAPÍTULOS">
  <p:cSld name="SEPARAÇÃO DE CAPÍTULO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ctrTitle"/>
          </p:nvPr>
        </p:nvSpPr>
        <p:spPr>
          <a:xfrm>
            <a:off x="576940" y="2232725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EXTO CORRIDO" type="title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ctrTitle"/>
          </p:nvPr>
        </p:nvSpPr>
        <p:spPr>
          <a:xfrm>
            <a:off x="568229" y="1"/>
            <a:ext cx="10284828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  <a:defRPr b="0" i="0" sz="3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IMAGENS E QUADRO">
  <p:cSld name="SLIDE IMAGENS E QUADRO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idx="1" type="subTitle"/>
          </p:nvPr>
        </p:nvSpPr>
        <p:spPr>
          <a:xfrm>
            <a:off x="1469570" y="5855398"/>
            <a:ext cx="9144000" cy="512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12"/>
          <p:cNvSpPr txBox="1"/>
          <p:nvPr>
            <p:ph type="ctrTitle"/>
          </p:nvPr>
        </p:nvSpPr>
        <p:spPr>
          <a:xfrm>
            <a:off x="1371599" y="1"/>
            <a:ext cx="9481457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6.png"/><Relationship Id="rId13" Type="http://schemas.openxmlformats.org/officeDocument/2006/relationships/image" Target="../media/image13.png"/><Relationship Id="rId12" Type="http://schemas.openxmlformats.org/officeDocument/2006/relationships/image" Target="../media/image10.png"/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.png"/><Relationship Id="rId15" Type="http://schemas.openxmlformats.org/officeDocument/2006/relationships/theme" Target="../theme/theme5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2.png"/><Relationship Id="rId13" Type="http://schemas.openxmlformats.org/officeDocument/2006/relationships/image" Target="../media/image25.png"/><Relationship Id="rId12" Type="http://schemas.openxmlformats.org/officeDocument/2006/relationships/image" Target="../media/image3.png"/><Relationship Id="rId1" Type="http://schemas.openxmlformats.org/officeDocument/2006/relationships/image" Target="../media/image11.png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0.png"/><Relationship Id="rId16" Type="http://schemas.openxmlformats.org/officeDocument/2006/relationships/theme" Target="../theme/theme8.xml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3" Type="http://schemas.openxmlformats.org/officeDocument/2006/relationships/image" Target="../media/image33.png"/><Relationship Id="rId12" Type="http://schemas.openxmlformats.org/officeDocument/2006/relationships/image" Target="../media/image26.png"/><Relationship Id="rId1" Type="http://schemas.openxmlformats.org/officeDocument/2006/relationships/image" Target="../media/image14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9" Type="http://schemas.openxmlformats.org/officeDocument/2006/relationships/image" Target="../media/image27.png"/><Relationship Id="rId15" Type="http://schemas.openxmlformats.org/officeDocument/2006/relationships/theme" Target="../theme/theme6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3" Type="http://schemas.openxmlformats.org/officeDocument/2006/relationships/image" Target="../media/image33.png"/><Relationship Id="rId12" Type="http://schemas.openxmlformats.org/officeDocument/2006/relationships/image" Target="../media/image26.png"/><Relationship Id="rId1" Type="http://schemas.openxmlformats.org/officeDocument/2006/relationships/image" Target="../media/image14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9" Type="http://schemas.openxmlformats.org/officeDocument/2006/relationships/image" Target="../media/image27.png"/><Relationship Id="rId15" Type="http://schemas.openxmlformats.org/officeDocument/2006/relationships/theme" Target="../theme/theme7.xml"/><Relationship Id="rId14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41.png"/><Relationship Id="rId13" Type="http://schemas.openxmlformats.org/officeDocument/2006/relationships/image" Target="../media/image32.png"/><Relationship Id="rId12" Type="http://schemas.openxmlformats.org/officeDocument/2006/relationships/image" Target="../media/image26.png"/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58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5" Type="http://schemas.openxmlformats.org/officeDocument/2006/relationships/image" Target="../media/image55.png"/><Relationship Id="rId14" Type="http://schemas.openxmlformats.org/officeDocument/2006/relationships/image" Target="../media/image42.png"/><Relationship Id="rId17" Type="http://schemas.openxmlformats.org/officeDocument/2006/relationships/theme" Target="../theme/theme4.xml"/><Relationship Id="rId16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37.png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image" Target="../media/image67.png"/><Relationship Id="rId11" Type="http://schemas.openxmlformats.org/officeDocument/2006/relationships/image" Target="../media/image56.png"/><Relationship Id="rId22" Type="http://schemas.openxmlformats.org/officeDocument/2006/relationships/image" Target="../media/image62.png"/><Relationship Id="rId10" Type="http://schemas.openxmlformats.org/officeDocument/2006/relationships/image" Target="../media/image61.png"/><Relationship Id="rId21" Type="http://schemas.openxmlformats.org/officeDocument/2006/relationships/image" Target="../media/image63.png"/><Relationship Id="rId13" Type="http://schemas.openxmlformats.org/officeDocument/2006/relationships/image" Target="../media/image52.png"/><Relationship Id="rId24" Type="http://schemas.openxmlformats.org/officeDocument/2006/relationships/theme" Target="../theme/theme1.xml"/><Relationship Id="rId12" Type="http://schemas.openxmlformats.org/officeDocument/2006/relationships/image" Target="../media/image47.png"/><Relationship Id="rId23" Type="http://schemas.openxmlformats.org/officeDocument/2006/relationships/slideLayout" Target="../slideLayouts/slideLayout6.xml"/><Relationship Id="rId1" Type="http://schemas.openxmlformats.org/officeDocument/2006/relationships/image" Target="../media/image9.png"/><Relationship Id="rId2" Type="http://schemas.openxmlformats.org/officeDocument/2006/relationships/image" Target="../media/image48.png"/><Relationship Id="rId3" Type="http://schemas.openxmlformats.org/officeDocument/2006/relationships/image" Target="../media/image55.png"/><Relationship Id="rId4" Type="http://schemas.openxmlformats.org/officeDocument/2006/relationships/image" Target="../media/image43.png"/><Relationship Id="rId9" Type="http://schemas.openxmlformats.org/officeDocument/2006/relationships/image" Target="../media/image46.png"/><Relationship Id="rId15" Type="http://schemas.openxmlformats.org/officeDocument/2006/relationships/image" Target="../media/image53.png"/><Relationship Id="rId14" Type="http://schemas.openxmlformats.org/officeDocument/2006/relationships/image" Target="../media/image59.png"/><Relationship Id="rId17" Type="http://schemas.openxmlformats.org/officeDocument/2006/relationships/image" Target="../media/image60.png"/><Relationship Id="rId16" Type="http://schemas.openxmlformats.org/officeDocument/2006/relationships/image" Target="../media/image57.png"/><Relationship Id="rId5" Type="http://schemas.openxmlformats.org/officeDocument/2006/relationships/image" Target="../media/image50.png"/><Relationship Id="rId19" Type="http://schemas.openxmlformats.org/officeDocument/2006/relationships/image" Target="../media/image32.png"/><Relationship Id="rId6" Type="http://schemas.openxmlformats.org/officeDocument/2006/relationships/image" Target="../media/image49.png"/><Relationship Id="rId18" Type="http://schemas.openxmlformats.org/officeDocument/2006/relationships/image" Target="../media/image68.png"/><Relationship Id="rId7" Type="http://schemas.openxmlformats.org/officeDocument/2006/relationships/image" Target="../media/image54.png"/><Relationship Id="rId8" Type="http://schemas.openxmlformats.org/officeDocument/2006/relationships/image" Target="../media/image51.png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image" Target="../media/image73.png"/><Relationship Id="rId11" Type="http://schemas.openxmlformats.org/officeDocument/2006/relationships/image" Target="../media/image74.png"/><Relationship Id="rId22" Type="http://schemas.openxmlformats.org/officeDocument/2006/relationships/theme" Target="../theme/theme3.xml"/><Relationship Id="rId10" Type="http://schemas.openxmlformats.org/officeDocument/2006/relationships/image" Target="../media/image79.png"/><Relationship Id="rId21" Type="http://schemas.openxmlformats.org/officeDocument/2006/relationships/slideLayout" Target="../slideLayouts/slideLayout7.xml"/><Relationship Id="rId13" Type="http://schemas.openxmlformats.org/officeDocument/2006/relationships/image" Target="../media/image26.png"/><Relationship Id="rId12" Type="http://schemas.openxmlformats.org/officeDocument/2006/relationships/image" Target="../media/image2.png"/><Relationship Id="rId1" Type="http://schemas.openxmlformats.org/officeDocument/2006/relationships/image" Target="../media/image65.png"/><Relationship Id="rId2" Type="http://schemas.openxmlformats.org/officeDocument/2006/relationships/image" Target="../media/image76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9" Type="http://schemas.openxmlformats.org/officeDocument/2006/relationships/image" Target="../media/image75.png"/><Relationship Id="rId15" Type="http://schemas.openxmlformats.org/officeDocument/2006/relationships/image" Target="../media/image77.png"/><Relationship Id="rId14" Type="http://schemas.openxmlformats.org/officeDocument/2006/relationships/image" Target="../media/image31.png"/><Relationship Id="rId17" Type="http://schemas.openxmlformats.org/officeDocument/2006/relationships/image" Target="../media/image6.png"/><Relationship Id="rId16" Type="http://schemas.openxmlformats.org/officeDocument/2006/relationships/image" Target="../media/image55.png"/><Relationship Id="rId5" Type="http://schemas.openxmlformats.org/officeDocument/2006/relationships/image" Target="../media/image64.png"/><Relationship Id="rId19" Type="http://schemas.openxmlformats.org/officeDocument/2006/relationships/image" Target="../media/image10.png"/><Relationship Id="rId6" Type="http://schemas.openxmlformats.org/officeDocument/2006/relationships/image" Target="../media/image70.png"/><Relationship Id="rId18" Type="http://schemas.openxmlformats.org/officeDocument/2006/relationships/image" Target="../media/image25.png"/><Relationship Id="rId7" Type="http://schemas.openxmlformats.org/officeDocument/2006/relationships/image" Target="../media/image69.png"/><Relationship Id="rId8" Type="http://schemas.openxmlformats.org/officeDocument/2006/relationships/image" Target="../media/image66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5700" y="2435225"/>
            <a:ext cx="35687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350" y="1958975"/>
            <a:ext cx="18097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2206625"/>
            <a:ext cx="57785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2550" y="2219325"/>
            <a:ext cx="5905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50" y="2536825"/>
            <a:ext cx="2730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190875"/>
            <a:ext cx="806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18192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17300" y="50323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31600" y="21304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1650" y="1901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99850" y="467042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696700" y="2200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1650" y="535622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5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700"/>
            <a:ext cx="1219200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5550" y="15621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0" y="3644900"/>
            <a:ext cx="129540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7350" y="5651500"/>
            <a:ext cx="7874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5850" y="2324100"/>
            <a:ext cx="946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1650" y="3028950"/>
            <a:ext cx="122555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28450" y="622300"/>
            <a:ext cx="4635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31500" y="4044950"/>
            <a:ext cx="1651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1550" y="21463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709400" y="1358900"/>
            <a:ext cx="8890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050" y="290830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050" y="42291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7100" y="2305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8650" y="29908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2250" y="54038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56850" y="555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85450" y="5416550"/>
            <a:ext cx="38100" cy="3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6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450" y="4381500"/>
            <a:ext cx="38100" cy="3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-64394" y="-63500"/>
            <a:ext cx="12320788" cy="3644900"/>
            <a:chOff x="0" y="0"/>
            <a:chExt cx="12192000" cy="3606800"/>
          </a:xfrm>
        </p:grpSpPr>
        <p:pic>
          <p:nvPicPr>
            <p:cNvPr id="112" name="Google Shape;11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8950" y="0"/>
              <a:ext cx="10433050" cy="360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0420350" cy="3606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4" name="Google Shape;11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47250" y="2842683"/>
            <a:ext cx="13906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96600" y="1079500"/>
            <a:ext cx="8318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6016" y="2349500"/>
            <a:ext cx="7239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850" y="3390900"/>
            <a:ext cx="126365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3064" y="3972983"/>
            <a:ext cx="12827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2100" y="4413250"/>
            <a:ext cx="2165350" cy="25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8750" y="895350"/>
            <a:ext cx="10858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17150" y="5448300"/>
            <a:ext cx="18351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93962" y="3336925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289661" y="3051175"/>
            <a:ext cx="120650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031179" y="2563283"/>
            <a:ext cx="9525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52617" y="3832045"/>
            <a:ext cx="9525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6114" y="4386262"/>
            <a:ext cx="1206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52550" y="1771650"/>
            <a:ext cx="107950" cy="1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312" y="3317875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79550" y="174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13012" y="3502025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69914" y="4360862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005779" y="2741083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257911" y="3184525"/>
            <a:ext cx="31750" cy="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85967" y="3959045"/>
            <a:ext cx="31750" cy="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709400" y="2870200"/>
            <a:ext cx="1905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368983" y="-196850"/>
            <a:ext cx="9474200" cy="7131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8.png"/><Relationship Id="rId4" Type="http://schemas.openxmlformats.org/officeDocument/2006/relationships/image" Target="../media/image8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ctrTitle"/>
          </p:nvPr>
        </p:nvSpPr>
        <p:spPr>
          <a:xfrm>
            <a:off x="576938" y="2950028"/>
            <a:ext cx="6141720" cy="89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68" name="Google Shape;168;p15"/>
          <p:cNvSpPr txBox="1"/>
          <p:nvPr>
            <p:ph idx="1" type="subTitle"/>
          </p:nvPr>
        </p:nvSpPr>
        <p:spPr>
          <a:xfrm>
            <a:off x="561700" y="3752850"/>
            <a:ext cx="6642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ctrTitle"/>
          </p:nvPr>
        </p:nvSpPr>
        <p:spPr>
          <a:xfrm>
            <a:off x="559520" y="2231636"/>
            <a:ext cx="5909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Revisão Rápida sobre Big Data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14167420" y="1725837"/>
            <a:ext cx="4057800" cy="173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idx="1" type="subTitle"/>
          </p:nvPr>
        </p:nvSpPr>
        <p:spPr>
          <a:xfrm>
            <a:off x="1371601" y="6149320"/>
            <a:ext cx="9481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pt-BR"/>
              <a:t>Os V’s do Big Data - Fonte: https://www.ibmbigdatahub.com/infographic/four-vs-big-data</a:t>
            </a:r>
            <a:endParaRPr/>
          </a:p>
        </p:txBody>
      </p:sp>
      <p:sp>
        <p:nvSpPr>
          <p:cNvPr id="181" name="Google Shape;181;p17"/>
          <p:cNvSpPr txBox="1"/>
          <p:nvPr>
            <p:ph type="ctrTitle"/>
          </p:nvPr>
        </p:nvSpPr>
        <p:spPr>
          <a:xfrm>
            <a:off x="1371599" y="1"/>
            <a:ext cx="948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Revisão Rápida - Big Data</a:t>
            </a:r>
            <a:endParaRPr/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3650" y="1241777"/>
            <a:ext cx="7137401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id="184" name="Google Shape;1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3350" y="1241775"/>
            <a:ext cx="7987458" cy="49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ctrTitle"/>
          </p:nvPr>
        </p:nvSpPr>
        <p:spPr>
          <a:xfrm>
            <a:off x="559520" y="2231636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Conceitos Iniciais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ctrTitle"/>
          </p:nvPr>
        </p:nvSpPr>
        <p:spPr>
          <a:xfrm>
            <a:off x="576943" y="0"/>
            <a:ext cx="10951482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Fluxos Contínuos de Dados – O que é?</a:t>
            </a:r>
            <a:endParaRPr/>
          </a:p>
        </p:txBody>
      </p:sp>
      <p:sp>
        <p:nvSpPr>
          <p:cNvPr id="196" name="Google Shape;196;p19"/>
          <p:cNvSpPr txBox="1"/>
          <p:nvPr>
            <p:ph idx="1" type="subTitle"/>
          </p:nvPr>
        </p:nvSpPr>
        <p:spPr>
          <a:xfrm>
            <a:off x="544282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3000"/>
              <a:t>Dados fluem continuamente com o passar do tempo</a:t>
            </a:r>
            <a:br>
              <a:rPr lang="pt-BR" sz="3000"/>
            </a:br>
            <a:br>
              <a:rPr lang="pt-BR" sz="3000"/>
            </a:br>
            <a:r>
              <a:rPr lang="pt-BR" sz="3000"/>
              <a:t>Chamados Fluxos Contínuos de Dados (Data streams), ou FCDs</a:t>
            </a:r>
            <a:br>
              <a:rPr lang="pt-BR" sz="3000"/>
            </a:br>
            <a:br>
              <a:rPr lang="pt-BR" sz="3000"/>
            </a:br>
            <a:r>
              <a:rPr lang="pt-BR" sz="3000"/>
              <a:t>Tratam dados que chegam em sequência</a:t>
            </a:r>
            <a:br>
              <a:rPr lang="pt-BR" sz="3000"/>
            </a:br>
            <a:br>
              <a:rPr lang="pt-BR" sz="3000"/>
            </a:br>
            <a:r>
              <a:rPr lang="pt-BR" sz="3000"/>
              <a:t>Modelo Batch não é adequado para problemas com natureza dinâmica</a:t>
            </a:r>
            <a:br>
              <a:rPr lang="pt-BR" sz="3000"/>
            </a:br>
            <a:endParaRPr sz="3000"/>
          </a:p>
        </p:txBody>
      </p:sp>
      <p:sp>
        <p:nvSpPr>
          <p:cNvPr id="197" name="Google Shape;197;p19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Características</a:t>
            </a:r>
            <a:br>
              <a:rPr lang="pt-BR"/>
            </a:br>
            <a:endParaRPr/>
          </a:p>
        </p:txBody>
      </p:sp>
      <p:sp>
        <p:nvSpPr>
          <p:cNvPr id="203" name="Google Shape;203;p20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800"/>
              <a:t>Dados chegam de forma contínua, em alta velocidade</a:t>
            </a:r>
            <a:br>
              <a:rPr lang="pt-BR" sz="2800"/>
            </a:br>
            <a:br>
              <a:rPr lang="pt-BR" sz="2800"/>
            </a:br>
            <a:r>
              <a:rPr lang="pt-BR" sz="2800"/>
              <a:t>Fluxo geralmente é muito grande ou infinito, não podendo ser armazenado em memória</a:t>
            </a:r>
            <a:br>
              <a:rPr lang="pt-BR" sz="2800"/>
            </a:br>
            <a:br>
              <a:rPr lang="pt-BR" sz="2800"/>
            </a:br>
            <a:r>
              <a:rPr lang="pt-BR" sz="2800"/>
              <a:t>Dados gerados podem possuir variação em sua ditribuição</a:t>
            </a:r>
            <a:br>
              <a:rPr lang="pt-BR" sz="2800"/>
            </a:br>
            <a:br>
              <a:rPr lang="pt-BR" sz="2800"/>
            </a:br>
            <a:r>
              <a:rPr lang="pt-BR" sz="2800"/>
              <a:t>Algoritmos padrões de mineração de dados não são bons em FCDs</a:t>
            </a:r>
            <a:br>
              <a:rPr lang="pt-BR"/>
            </a:b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Características</a:t>
            </a:r>
            <a:br>
              <a:rPr lang="pt-BR"/>
            </a:br>
            <a:endParaRPr/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/>
            </a:br>
            <a:r>
              <a:rPr lang="pt-BR" sz="2800"/>
              <a:t>Foco das aplicações de Machine Learning foi em aprendizado batch (dados históricos) nas últimas décadas.</a:t>
            </a:r>
            <a:br>
              <a:rPr lang="pt-BR" sz="2800"/>
            </a:br>
            <a:br>
              <a:rPr lang="pt-BR" sz="2800"/>
            </a:br>
            <a:r>
              <a:rPr lang="pt-BR" sz="2800"/>
              <a:t>Possui Conjunto de dados representativos para a fase de aprendizado.</a:t>
            </a:r>
            <a:br>
              <a:rPr lang="pt-BR" sz="2800"/>
            </a:br>
            <a:br>
              <a:rPr lang="pt-BR" sz="2800"/>
            </a:br>
            <a:r>
              <a:rPr lang="pt-BR" sz="2800"/>
              <a:t>Processamento dos dados gera um modelo de decisão para predições futuras.</a:t>
            </a:r>
            <a:br>
              <a:rPr lang="pt-BR"/>
            </a:b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type="ctrTitle"/>
          </p:nvPr>
        </p:nvSpPr>
        <p:spPr>
          <a:xfrm>
            <a:off x="568229" y="-1"/>
            <a:ext cx="10960195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Fatores que contribuem</a:t>
            </a:r>
            <a:endParaRPr/>
          </a:p>
        </p:txBody>
      </p:sp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3000"/>
              <a:t>Várias aplicações do mundo real trabalham com FCDs</a:t>
            </a:r>
            <a:br>
              <a:rPr lang="pt-BR" sz="3000"/>
            </a:br>
            <a:br>
              <a:rPr lang="pt-BR" sz="3000"/>
            </a:br>
            <a:r>
              <a:rPr lang="pt-BR" sz="3000"/>
              <a:t>Fenômeno da Internet das Coisas aumentou muito essa questão</a:t>
            </a:r>
            <a:br>
              <a:rPr lang="pt-BR" sz="3000"/>
            </a:br>
            <a:br>
              <a:rPr lang="pt-BR" sz="3000"/>
            </a:br>
            <a:r>
              <a:rPr lang="pt-BR" sz="3000"/>
              <a:t>Grande tendência e possui muitas aplicações</a:t>
            </a:r>
            <a:br>
              <a:rPr lang="pt-BR" sz="3000"/>
            </a:br>
            <a:br>
              <a:rPr lang="pt-BR" sz="3000"/>
            </a:br>
            <a:r>
              <a:rPr lang="pt-BR" sz="3000"/>
              <a:t>IPV6 provavelmente irá contribuir bastante para o aumento de aplicações desse tipo</a:t>
            </a:r>
            <a:br>
              <a:rPr lang="pt-BR"/>
            </a:b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LIDE IMAGENS E QUADR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 TEXTO CORRI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