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5" r:id="rId4"/>
    <p:sldMasterId id="2147483656" r:id="rId5"/>
    <p:sldMasterId id="2147483657" r:id="rId6"/>
    <p:sldMasterId id="2147483658" r:id="rId7"/>
    <p:sldMasterId id="2147483659" r:id="rId8"/>
    <p:sldMasterId id="2147483660" r:id="rId9"/>
    <p:sldMasterId id="2147483661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22" Type="http://schemas.openxmlformats.org/officeDocument/2006/relationships/slide" Target="slides/slide11.xml"/><Relationship Id="rId10" Type="http://schemas.openxmlformats.org/officeDocument/2006/relationships/slideMaster" Target="slideMasters/slideMaster7.xml"/><Relationship Id="rId21" Type="http://schemas.openxmlformats.org/officeDocument/2006/relationships/slide" Target="slides/slide10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23" Type="http://schemas.openxmlformats.org/officeDocument/2006/relationships/slide" Target="slides/slide12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8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7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df2788b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4df2788beb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df2788be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4df2788beb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df2788be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4df2788beb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4df2788be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4df2788beb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df2788be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4df2788beb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PARAÇÃO DE CAPÍTULOS">
  <p:cSld name="SEPARAÇÃO DE CAPÍTULO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ctrTitle"/>
          </p:nvPr>
        </p:nvSpPr>
        <p:spPr>
          <a:xfrm>
            <a:off x="576940" y="2232725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ÓPICOS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6"/>
          <p:cNvSpPr txBox="1"/>
          <p:nvPr>
            <p:ph idx="1" type="subTitle"/>
          </p:nvPr>
        </p:nvSpPr>
        <p:spPr>
          <a:xfrm>
            <a:off x="52251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Char char="▪"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TEXTO CORRIDO" type="title">
  <p:cSld name="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ctrTitle"/>
          </p:nvPr>
        </p:nvSpPr>
        <p:spPr>
          <a:xfrm>
            <a:off x="568229" y="1"/>
            <a:ext cx="10284828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576939" y="1447799"/>
            <a:ext cx="9448803" cy="452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  <a:defRPr b="0" i="0" sz="35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PARA PERGUNTAS">
  <p:cSld name="SLIDE PARA PERGUNTA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ctrTitle"/>
          </p:nvPr>
        </p:nvSpPr>
        <p:spPr>
          <a:xfrm>
            <a:off x="544286" y="2235200"/>
            <a:ext cx="6009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  <a:defRPr b="1" i="0" sz="45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orient="horz" pos="3657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5.png"/><Relationship Id="rId13" Type="http://schemas.openxmlformats.org/officeDocument/2006/relationships/image" Target="../media/image14.png"/><Relationship Id="rId12" Type="http://schemas.openxmlformats.org/officeDocument/2006/relationships/image" Target="../media/image12.png"/><Relationship Id="rId1" Type="http://schemas.openxmlformats.org/officeDocument/2006/relationships/image" Target="../media/image15.png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8.png"/><Relationship Id="rId13" Type="http://schemas.openxmlformats.org/officeDocument/2006/relationships/image" Target="../media/image23.png"/><Relationship Id="rId12" Type="http://schemas.openxmlformats.org/officeDocument/2006/relationships/image" Target="../media/image7.png"/><Relationship Id="rId1" Type="http://schemas.openxmlformats.org/officeDocument/2006/relationships/image" Target="../media/image13.png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24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2.png"/><Relationship Id="rId16" Type="http://schemas.openxmlformats.org/officeDocument/2006/relationships/theme" Target="../theme/theme5.xml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31.png"/><Relationship Id="rId1" Type="http://schemas.openxmlformats.org/officeDocument/2006/relationships/image" Target="../media/image17.png"/><Relationship Id="rId2" Type="http://schemas.openxmlformats.org/officeDocument/2006/relationships/image" Target="../media/image21.png"/><Relationship Id="rId3" Type="http://schemas.openxmlformats.org/officeDocument/2006/relationships/image" Target="../media/image3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5" Type="http://schemas.openxmlformats.org/officeDocument/2006/relationships/theme" Target="../theme/theme8.xml"/><Relationship Id="rId14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19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31.png"/><Relationship Id="rId1" Type="http://schemas.openxmlformats.org/officeDocument/2006/relationships/image" Target="../media/image17.png"/><Relationship Id="rId2" Type="http://schemas.openxmlformats.org/officeDocument/2006/relationships/image" Target="../media/image21.png"/><Relationship Id="rId3" Type="http://schemas.openxmlformats.org/officeDocument/2006/relationships/image" Target="../media/image3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19.png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45.png"/><Relationship Id="rId13" Type="http://schemas.openxmlformats.org/officeDocument/2006/relationships/image" Target="../media/image32.png"/><Relationship Id="rId12" Type="http://schemas.openxmlformats.org/officeDocument/2006/relationships/image" Target="../media/image31.png"/><Relationship Id="rId1" Type="http://schemas.openxmlformats.org/officeDocument/2006/relationships/image" Target="../media/image38.png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36.png"/><Relationship Id="rId9" Type="http://schemas.openxmlformats.org/officeDocument/2006/relationships/image" Target="../media/image42.png"/><Relationship Id="rId15" Type="http://schemas.openxmlformats.org/officeDocument/2006/relationships/image" Target="../media/image43.png"/><Relationship Id="rId14" Type="http://schemas.openxmlformats.org/officeDocument/2006/relationships/image" Target="../media/image47.png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Relationship Id="rId8" Type="http://schemas.openxmlformats.org/officeDocument/2006/relationships/image" Target="../media/image40.png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3.png"/><Relationship Id="rId10" Type="http://schemas.openxmlformats.org/officeDocument/2006/relationships/image" Target="../media/image12.png"/><Relationship Id="rId13" Type="http://schemas.openxmlformats.org/officeDocument/2006/relationships/image" Target="../media/image54.png"/><Relationship Id="rId12" Type="http://schemas.openxmlformats.org/officeDocument/2006/relationships/image" Target="../media/image58.png"/><Relationship Id="rId1" Type="http://schemas.openxmlformats.org/officeDocument/2006/relationships/image" Target="../media/image13.png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9" Type="http://schemas.openxmlformats.org/officeDocument/2006/relationships/image" Target="../media/image23.png"/><Relationship Id="rId15" Type="http://schemas.openxmlformats.org/officeDocument/2006/relationships/theme" Target="../theme/theme6.xml"/><Relationship Id="rId14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image" Target="../media/image53.png"/><Relationship Id="rId11" Type="http://schemas.openxmlformats.org/officeDocument/2006/relationships/image" Target="../media/image55.png"/><Relationship Id="rId22" Type="http://schemas.openxmlformats.org/officeDocument/2006/relationships/theme" Target="../theme/theme1.xml"/><Relationship Id="rId10" Type="http://schemas.openxmlformats.org/officeDocument/2006/relationships/image" Target="../media/image60.png"/><Relationship Id="rId21" Type="http://schemas.openxmlformats.org/officeDocument/2006/relationships/slideLayout" Target="../slideLayouts/slideLayout7.xml"/><Relationship Id="rId13" Type="http://schemas.openxmlformats.org/officeDocument/2006/relationships/image" Target="../media/image31.png"/><Relationship Id="rId12" Type="http://schemas.openxmlformats.org/officeDocument/2006/relationships/image" Target="../media/image8.png"/><Relationship Id="rId1" Type="http://schemas.openxmlformats.org/officeDocument/2006/relationships/image" Target="../media/image41.png"/><Relationship Id="rId2" Type="http://schemas.openxmlformats.org/officeDocument/2006/relationships/image" Target="../media/image59.png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48.png"/><Relationship Id="rId15" Type="http://schemas.openxmlformats.org/officeDocument/2006/relationships/image" Target="../media/image61.png"/><Relationship Id="rId14" Type="http://schemas.openxmlformats.org/officeDocument/2006/relationships/image" Target="../media/image29.png"/><Relationship Id="rId17" Type="http://schemas.openxmlformats.org/officeDocument/2006/relationships/image" Target="../media/image5.png"/><Relationship Id="rId16" Type="http://schemas.openxmlformats.org/officeDocument/2006/relationships/image" Target="../media/image43.png"/><Relationship Id="rId5" Type="http://schemas.openxmlformats.org/officeDocument/2006/relationships/image" Target="../media/image57.png"/><Relationship Id="rId19" Type="http://schemas.openxmlformats.org/officeDocument/2006/relationships/image" Target="../media/image12.png"/><Relationship Id="rId6" Type="http://schemas.openxmlformats.org/officeDocument/2006/relationships/image" Target="../media/image50.png"/><Relationship Id="rId18" Type="http://schemas.openxmlformats.org/officeDocument/2006/relationships/image" Target="../media/image23.png"/><Relationship Id="rId7" Type="http://schemas.openxmlformats.org/officeDocument/2006/relationships/image" Target="../media/image56.png"/><Relationship Id="rId8" Type="http://schemas.openxmlformats.org/officeDocument/2006/relationships/image" Target="../media/image62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5700" y="2435225"/>
            <a:ext cx="35687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350" y="1958975"/>
            <a:ext cx="180975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6000" y="2206625"/>
            <a:ext cx="577850" cy="5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42550" y="2219325"/>
            <a:ext cx="590550" cy="7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50" y="2536825"/>
            <a:ext cx="27305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8150" y="3190875"/>
            <a:ext cx="806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18192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17300" y="50323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31600" y="21304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51650" y="19018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99850" y="467042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696700" y="220027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851650" y="535622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5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700"/>
            <a:ext cx="1219200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5550" y="15621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0" y="3644900"/>
            <a:ext cx="1295400" cy="32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7350" y="5651500"/>
            <a:ext cx="7874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45850" y="2324100"/>
            <a:ext cx="9461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1650" y="3028950"/>
            <a:ext cx="1225550" cy="8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728450" y="622300"/>
            <a:ext cx="46355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31500" y="4044950"/>
            <a:ext cx="165100" cy="1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1550" y="2146300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709400" y="1358900"/>
            <a:ext cx="88900" cy="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87050" y="2908300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687050" y="42291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87100" y="2305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8650" y="29908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2250" y="540385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56850" y="555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585450" y="5416550"/>
            <a:ext cx="38100" cy="38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6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32450" y="1371600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2300" y="1066800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231" y="1565532"/>
            <a:ext cx="2241550" cy="35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2950" y="4718050"/>
            <a:ext cx="248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200" y="15938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00950" y="5461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9500" y="53340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55350" y="1555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64350" y="13271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47450" y="5054600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37900" y="12954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70750" y="53022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92950" y="1952625"/>
            <a:ext cx="22542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99500" y="2762250"/>
            <a:ext cx="2628900" cy="21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890000" y="2971800"/>
            <a:ext cx="2247900" cy="128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4.jpg"/><Relationship Id="rId4" Type="http://schemas.openxmlformats.org/officeDocument/2006/relationships/image" Target="../media/image65.jpg"/><Relationship Id="rId5" Type="http://schemas.openxmlformats.org/officeDocument/2006/relationships/image" Target="../media/image7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1.png"/><Relationship Id="rId4" Type="http://schemas.openxmlformats.org/officeDocument/2006/relationships/image" Target="../media/image69.png"/><Relationship Id="rId5" Type="http://schemas.openxmlformats.org/officeDocument/2006/relationships/image" Target="../media/image70.jpg"/><Relationship Id="rId6" Type="http://schemas.openxmlformats.org/officeDocument/2006/relationships/image" Target="../media/image68.jpg"/><Relationship Id="rId7" Type="http://schemas.openxmlformats.org/officeDocument/2006/relationships/image" Target="../media/image7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ctrTitle"/>
          </p:nvPr>
        </p:nvSpPr>
        <p:spPr>
          <a:xfrm>
            <a:off x="576938" y="2950028"/>
            <a:ext cx="6141720" cy="89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IoT e Fluxos Contínuos de Dados</a:t>
            </a:r>
            <a:endParaRPr/>
          </a:p>
        </p:txBody>
      </p:sp>
      <p:sp>
        <p:nvSpPr>
          <p:cNvPr id="154" name="Google Shape;154;p15"/>
          <p:cNvSpPr txBox="1"/>
          <p:nvPr>
            <p:ph idx="1" type="subTitle"/>
          </p:nvPr>
        </p:nvSpPr>
        <p:spPr>
          <a:xfrm>
            <a:off x="576950" y="3990350"/>
            <a:ext cx="65040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ctrTitle"/>
          </p:nvPr>
        </p:nvSpPr>
        <p:spPr>
          <a:xfrm>
            <a:off x="559520" y="2231636"/>
            <a:ext cx="590931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Conceitos e Exemplos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SEPARAR CAPÍTULO/ TÓPICO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ctrTitle"/>
          </p:nvPr>
        </p:nvSpPr>
        <p:spPr>
          <a:xfrm>
            <a:off x="576943" y="0"/>
            <a:ext cx="10951482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Fluxos Contínuos de Dados e a IoT</a:t>
            </a:r>
            <a:endParaRPr/>
          </a:p>
        </p:txBody>
      </p:sp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544282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A “Internet das Coisas” se refere a uma revolução tecnológica que tem como objetivo conectar os itens usados do dia a dia à rede mundial de computadores. Cada vez mais surgem eletrodomésticos, meios de transporte e até mesmo tênis, roupas e maçanetas conectadas à Internet e a outros dispositivos, como computadores e smartphones.</a:t>
            </a:r>
            <a:br>
              <a:rPr lang="pt-BR"/>
            </a:b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14167420" y="1725837"/>
            <a:ext cx="4057842" cy="173225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ctrTitle"/>
          </p:nvPr>
        </p:nvSpPr>
        <p:spPr>
          <a:xfrm>
            <a:off x="568230" y="0"/>
            <a:ext cx="10012684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Fluxos Contínuos de Dados e a IoT</a:t>
            </a:r>
            <a:endParaRPr/>
          </a:p>
        </p:txBody>
      </p:sp>
      <p:sp>
        <p:nvSpPr>
          <p:cNvPr id="174" name="Google Shape;174;p18"/>
          <p:cNvSpPr txBox="1"/>
          <p:nvPr>
            <p:ph idx="1" type="subTitle"/>
          </p:nvPr>
        </p:nvSpPr>
        <p:spPr>
          <a:xfrm>
            <a:off x="576950" y="1969325"/>
            <a:ext cx="5311200" cy="39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/>
              <a:t>Apple, Philips, Bose, Dropcam e Lively, Entre outras, fabricam aparelhos conectados à internet para baixar a intensidade da luz, fechar as portas da garagem, ouvir músicas ou ficar de olho em membros a família por meio de sensores  ou vídeo ao vivo.</a:t>
            </a:r>
            <a:br>
              <a:rPr lang="pt-BR"/>
            </a:b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descr="C:\Users\Sam\Desktop\Apresentação IOT\2248.Remote home control shutterstock_143542750.jp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0225" y="2174325"/>
            <a:ext cx="3750543" cy="2509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>
            <p:ph type="ctrTitle"/>
          </p:nvPr>
        </p:nvSpPr>
        <p:spPr>
          <a:xfrm>
            <a:off x="568229" y="-1"/>
            <a:ext cx="10960195" cy="1197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Carros Conectados</a:t>
            </a:r>
            <a:endParaRPr/>
          </a:p>
        </p:txBody>
      </p:sp>
      <p:sp>
        <p:nvSpPr>
          <p:cNvPr id="182" name="Google Shape;182;p19"/>
          <p:cNvSpPr txBox="1"/>
          <p:nvPr>
            <p:ph idx="1" type="subTitle"/>
          </p:nvPr>
        </p:nvSpPr>
        <p:spPr>
          <a:xfrm>
            <a:off x="576950" y="1447800"/>
            <a:ext cx="50736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Você já pensou poder dirigir e ativar um GPS, ou diminuir a temperatura do ar condicionado ou até mesmo encontrar um restaurante que esteja próximo sem sequer tirar as mãos do volante? Isso já existe e já é possível. A idéia é de no futuro até mesmo prever e evitar acidentes.</a:t>
            </a:r>
            <a:br>
              <a:rPr lang="pt-BR"/>
            </a:b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8662" y="2245538"/>
            <a:ext cx="3862251" cy="2366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Relógio Inteligentes</a:t>
            </a:r>
            <a:endParaRPr/>
          </a:p>
        </p:txBody>
      </p:sp>
      <p:sp>
        <p:nvSpPr>
          <p:cNvPr id="190" name="Google Shape;190;p20"/>
          <p:cNvSpPr txBox="1"/>
          <p:nvPr>
            <p:ph idx="1" type="subTitle"/>
          </p:nvPr>
        </p:nvSpPr>
        <p:spPr>
          <a:xfrm>
            <a:off x="576939" y="1447799"/>
            <a:ext cx="94488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/>
              <a:t>Os relógios inteligentes funcionam, a princípio, como uma extensão do smartphone.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br>
              <a:rPr lang="pt-BR"/>
            </a:br>
            <a:r>
              <a:rPr lang="pt-BR"/>
              <a:t>A integração é feita via Bluetooth e oferece praticidade para acessar informações e aplicativos, além de permitir a leitura e o envio de e-mails e SMS. </a:t>
            </a:r>
            <a:br>
              <a:rPr lang="pt-BR"/>
            </a:b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descr="Relógio da Apple tem visual arrojado (Foto: Divulgação)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4863" y="5253875"/>
            <a:ext cx="3592975" cy="1636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Casaco que simula abraço</a:t>
            </a:r>
            <a:endParaRPr/>
          </a:p>
        </p:txBody>
      </p:sp>
      <p:sp>
        <p:nvSpPr>
          <p:cNvPr id="198" name="Google Shape;198;p21"/>
          <p:cNvSpPr txBox="1"/>
          <p:nvPr>
            <p:ph idx="1" type="subTitle"/>
          </p:nvPr>
        </p:nvSpPr>
        <p:spPr>
          <a:xfrm>
            <a:off x="576945" y="1447800"/>
            <a:ext cx="49749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Essa é para aqueles que sentem que as relações no Facebook carecem de “contato humano”. A designer do Laboratório de Mídias do Massachusetts Institute of Technology, Melissa Chow, desenvolveu um casaco que infla cada vez que uma de suas postagens recebe um “curtir” no Facebook, dando a sensação de um abraço.</a:t>
            </a:r>
            <a:br>
              <a:rPr lang="pt-BR" sz="2400"/>
            </a:br>
            <a:endParaRPr sz="2400"/>
          </a:p>
        </p:txBody>
      </p:sp>
      <p:sp>
        <p:nvSpPr>
          <p:cNvPr id="199" name="Google Shape;199;p21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descr="roupa inflável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7400" y="2083713"/>
            <a:ext cx="4414992" cy="3256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Óculos Inteligente</a:t>
            </a:r>
            <a:endParaRPr/>
          </a:p>
        </p:txBody>
      </p:sp>
      <p:sp>
        <p:nvSpPr>
          <p:cNvPr id="206" name="Google Shape;206;p22"/>
          <p:cNvSpPr txBox="1"/>
          <p:nvPr>
            <p:ph idx="1" type="subTitle"/>
          </p:nvPr>
        </p:nvSpPr>
        <p:spPr>
          <a:xfrm>
            <a:off x="576945" y="1447800"/>
            <a:ext cx="49056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O Google mostrou detalhes dos seus óculos “do futuro”, que agora ganharam o nome oficial de Google Glass. Sergey Brin, cofundador da empresa, subiu ao palco do evento para apresentar os óculos, que têm câmera, microfone, alto falantes, processador poderoso e memória. </a:t>
            </a:r>
            <a:endParaRPr sz="2400"/>
          </a:p>
        </p:txBody>
      </p:sp>
      <p:sp>
        <p:nvSpPr>
          <p:cNvPr id="207" name="Google Shape;207;p22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descr="https://rafaneres.files.wordpress.com/2012/02/mm-630-google-glasses-terminator-poster-630w.jpg?w=590&amp;h=307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650" y="3521000"/>
            <a:ext cx="3265566" cy="1699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encrypted-tbn2.gstatic.com/images?q=tbn:ANd9GcQ0ph-6pGdas5egmPP1FcyqWpTc-WVHZig_LcRmlRRfeUWpIxcvXQ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7812" y="2262775"/>
            <a:ext cx="1978243" cy="1481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revolucaodigital.net/wp-content/uploads/2012/05/google-glass-610x359.jpg?d01e53"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2075" y="4075037"/>
            <a:ext cx="2277618" cy="134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ctrTitle"/>
          </p:nvPr>
        </p:nvSpPr>
        <p:spPr>
          <a:xfrm>
            <a:off x="568229" y="-1"/>
            <a:ext cx="109602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Smart TV</a:t>
            </a:r>
            <a:endParaRPr/>
          </a:p>
        </p:txBody>
      </p:sp>
      <p:sp>
        <p:nvSpPr>
          <p:cNvPr id="216" name="Google Shape;216;p23"/>
          <p:cNvSpPr txBox="1"/>
          <p:nvPr>
            <p:ph idx="1" type="subTitle"/>
          </p:nvPr>
        </p:nvSpPr>
        <p:spPr>
          <a:xfrm>
            <a:off x="576945" y="1447800"/>
            <a:ext cx="4905600" cy="45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E9B"/>
              </a:buClr>
              <a:buSzPts val="3500"/>
              <a:buFont typeface="Noto Sans Symbols"/>
              <a:buNone/>
            </a:pPr>
            <a:r>
              <a:rPr lang="pt-BR" sz="2400"/>
              <a:t>Basicamente, é uma televisão com internet – também chamada de “televisão híbrida”. Ela possui um dispositivo de rede que capta o Wi-Fi de sua casa e se conecta a ele.</a:t>
            </a:r>
            <a:br>
              <a:rPr lang="pt-BR" sz="2400"/>
            </a:br>
            <a:r>
              <a:rPr lang="pt-BR" sz="2400"/>
              <a:t>Detalhe óbvio, porém importante: Para que todas funcionalidades sejam aproveitadas, é necessário que haja um roteador ou qualquer dispositivo que transmita internet através do Wi-Fi.</a:t>
            </a:r>
            <a:br>
              <a:rPr lang="pt-BR" sz="2400"/>
            </a:br>
            <a:endParaRPr sz="2400"/>
          </a:p>
        </p:txBody>
      </p:sp>
      <p:sp>
        <p:nvSpPr>
          <p:cNvPr id="217" name="Google Shape;217;p23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pic>
        <p:nvPicPr>
          <p:cNvPr id="218" name="Google Shape;2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2449" y="2297610"/>
            <a:ext cx="4767150" cy="2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ctrTitle"/>
          </p:nvPr>
        </p:nvSpPr>
        <p:spPr>
          <a:xfrm>
            <a:off x="576943" y="0"/>
            <a:ext cx="1095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“Principais”</a:t>
            </a:r>
            <a:endParaRPr/>
          </a:p>
        </p:txBody>
      </p:sp>
      <p:sp>
        <p:nvSpPr>
          <p:cNvPr id="224" name="Google Shape;224;p24"/>
          <p:cNvSpPr txBox="1"/>
          <p:nvPr>
            <p:ph idx="1" type="subTitle"/>
          </p:nvPr>
        </p:nvSpPr>
        <p:spPr>
          <a:xfrm>
            <a:off x="544275" y="1524000"/>
            <a:ext cx="9144000" cy="3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42875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r>
              <a:rPr lang="pt-BR" sz="2400"/>
              <a:t>Depois de tantos exemplos, temos os principais:</a:t>
            </a:r>
            <a:br>
              <a:rPr lang="pt-BR" sz="2400"/>
            </a:br>
            <a:r>
              <a:rPr lang="pt-BR" sz="2400"/>
              <a:t>Smartphones e Computadores</a:t>
            </a:r>
            <a:br>
              <a:rPr lang="pt-BR" sz="2400"/>
            </a:br>
            <a:br>
              <a:rPr lang="pt-BR" sz="2400"/>
            </a:br>
            <a:r>
              <a:rPr lang="pt-BR" sz="2400"/>
              <a:t>Estão associados principalmente com as redes sociais</a:t>
            </a:r>
            <a:br>
              <a:rPr lang="pt-BR" sz="2400"/>
            </a:br>
            <a:br>
              <a:rPr lang="pt-BR" sz="2400"/>
            </a:br>
            <a:r>
              <a:rPr lang="pt-BR" sz="2400"/>
              <a:t>Geram dados o tempo todo</a:t>
            </a:r>
            <a:br>
              <a:rPr lang="pt-BR" sz="2400"/>
            </a:br>
            <a:br>
              <a:rPr lang="pt-BR" sz="2400"/>
            </a:br>
            <a:endParaRPr sz="2400"/>
          </a:p>
        </p:txBody>
      </p:sp>
      <p:sp>
        <p:nvSpPr>
          <p:cNvPr id="225" name="Google Shape;225;p24"/>
          <p:cNvSpPr/>
          <p:nvPr/>
        </p:nvSpPr>
        <p:spPr>
          <a:xfrm>
            <a:off x="14167420" y="1725837"/>
            <a:ext cx="4057800" cy="1732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TÓPICOS</a:t>
            </a:r>
            <a:endParaRPr/>
          </a:p>
        </p:txBody>
      </p:sp>
      <p:pic>
        <p:nvPicPr>
          <p:cNvPr descr="Resultado de imagem para facebook"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1838" y="2545412"/>
            <a:ext cx="1905507" cy="676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twitter" id="227" name="Google Shape;22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2875" y="4408587"/>
            <a:ext cx="2536607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linkedin" id="228" name="Google Shape;22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512" y="4367300"/>
            <a:ext cx="2279811" cy="148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instagram" id="229" name="Google Shape;22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97162" y="617987"/>
            <a:ext cx="1494854" cy="995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whatsapp" id="230" name="Google Shape;23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09350" y="4408575"/>
            <a:ext cx="1355725" cy="1357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ctrTitle"/>
          </p:nvPr>
        </p:nvSpPr>
        <p:spPr>
          <a:xfrm>
            <a:off x="544286" y="2235200"/>
            <a:ext cx="6009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4500"/>
              <a:buFont typeface="Calibri"/>
              <a:buNone/>
            </a:pPr>
            <a:r>
              <a:rPr lang="pt-BR"/>
              <a:t>E na sua rotina?</a:t>
            </a:r>
            <a:endParaRPr b="1"/>
          </a:p>
        </p:txBody>
      </p:sp>
      <p:sp>
        <p:nvSpPr>
          <p:cNvPr id="236" name="Google Shape;236;p25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PERGUNTAS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 TEXTO CORRI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