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2" r:id="rId4"/>
    <p:sldMasterId id="2147483653" r:id="rId5"/>
    <p:sldMasterId id="2147483654" r:id="rId6"/>
    <p:sldMasterId id="214748365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0">
          <p15:clr>
            <a:srgbClr val="000000"/>
          </p15:clr>
        </p15:guide>
        <p15:guide id="2" orient="horz" pos="3825">
          <p15:clr>
            <a:srgbClr val="000000"/>
          </p15:clr>
        </p15:guide>
        <p15:guide id="3" pos="7262">
          <p15:clr>
            <a:srgbClr val="000000"/>
          </p15:clr>
        </p15:guide>
        <p15:guide id="4" pos="42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0" orient="horz"/>
        <p:guide pos="3825" orient="horz"/>
        <p:guide pos="7262"/>
        <p:guide pos="4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df0f787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4df0f7879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df0f7879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4df0f7879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576938" y="2362200"/>
            <a:ext cx="6141720" cy="115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561698" y="3429000"/>
            <a:ext cx="6156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A1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pos="4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ÓPICOS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5" name="Google Shape;45;p4"/>
          <p:cNvSpPr txBox="1"/>
          <p:nvPr>
            <p:ph idx="1" type="subTitle"/>
          </p:nvPr>
        </p:nvSpPr>
        <p:spPr>
          <a:xfrm>
            <a:off x="52251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Char char="▪"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exto corrido 2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6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 ENCERRAMENTO">
  <p:cSld name="CAPA ENCERRAMENTO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6.png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25.png"/><Relationship Id="rId13" Type="http://schemas.openxmlformats.org/officeDocument/2006/relationships/image" Target="../media/image18.png"/><Relationship Id="rId12" Type="http://schemas.openxmlformats.org/officeDocument/2006/relationships/image" Target="../media/image21.png"/><Relationship Id="rId1" Type="http://schemas.openxmlformats.org/officeDocument/2006/relationships/image" Target="../media/image11.pn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25.png"/><Relationship Id="rId13" Type="http://schemas.openxmlformats.org/officeDocument/2006/relationships/image" Target="../media/image18.png"/><Relationship Id="rId12" Type="http://schemas.openxmlformats.org/officeDocument/2006/relationships/image" Target="../media/image21.png"/><Relationship Id="rId1" Type="http://schemas.openxmlformats.org/officeDocument/2006/relationships/image" Target="../media/image11.pn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15" Type="http://schemas.openxmlformats.org/officeDocument/2006/relationships/theme" Target="../theme/theme5.xml"/><Relationship Id="rId14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9.png"/><Relationship Id="rId11" Type="http://schemas.openxmlformats.org/officeDocument/2006/relationships/image" Target="../media/image40.png"/><Relationship Id="rId22" Type="http://schemas.openxmlformats.org/officeDocument/2006/relationships/theme" Target="../theme/theme1.xml"/><Relationship Id="rId10" Type="http://schemas.openxmlformats.org/officeDocument/2006/relationships/image" Target="../media/image35.png"/><Relationship Id="rId21" Type="http://schemas.openxmlformats.org/officeDocument/2006/relationships/slideLayout" Target="../slideLayouts/slideLayout4.xml"/><Relationship Id="rId13" Type="http://schemas.openxmlformats.org/officeDocument/2006/relationships/image" Target="../media/image21.png"/><Relationship Id="rId12" Type="http://schemas.openxmlformats.org/officeDocument/2006/relationships/image" Target="../media/image6.png"/><Relationship Id="rId1" Type="http://schemas.openxmlformats.org/officeDocument/2006/relationships/image" Target="../media/image27.png"/><Relationship Id="rId2" Type="http://schemas.openxmlformats.org/officeDocument/2006/relationships/image" Target="../media/image30.png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9" Type="http://schemas.openxmlformats.org/officeDocument/2006/relationships/image" Target="../media/image29.png"/><Relationship Id="rId15" Type="http://schemas.openxmlformats.org/officeDocument/2006/relationships/image" Target="../media/image36.png"/><Relationship Id="rId14" Type="http://schemas.openxmlformats.org/officeDocument/2006/relationships/image" Target="../media/image25.png"/><Relationship Id="rId17" Type="http://schemas.openxmlformats.org/officeDocument/2006/relationships/image" Target="../media/image15.png"/><Relationship Id="rId16" Type="http://schemas.openxmlformats.org/officeDocument/2006/relationships/image" Target="../media/image37.png"/><Relationship Id="rId5" Type="http://schemas.openxmlformats.org/officeDocument/2006/relationships/image" Target="../media/image38.png"/><Relationship Id="rId19" Type="http://schemas.openxmlformats.org/officeDocument/2006/relationships/image" Target="../media/image1.png"/><Relationship Id="rId6" Type="http://schemas.openxmlformats.org/officeDocument/2006/relationships/image" Target="../media/image41.png"/><Relationship Id="rId18" Type="http://schemas.openxmlformats.org/officeDocument/2006/relationships/image" Target="../media/image28.png"/><Relationship Id="rId7" Type="http://schemas.openxmlformats.org/officeDocument/2006/relationships/image" Target="../media/image33.png"/><Relationship Id="rId8" Type="http://schemas.openxmlformats.org/officeDocument/2006/relationships/image" Target="../media/image31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500" y="2124075"/>
            <a:ext cx="330835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8166100" y="1577975"/>
            <a:ext cx="2343150" cy="2584450"/>
            <a:chOff x="8166100" y="1047750"/>
            <a:chExt cx="2343150" cy="2584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6100" y="1593850"/>
              <a:ext cx="2343150" cy="2038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78825" y="1047750"/>
              <a:ext cx="1917700" cy="2565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875" y="1958975"/>
            <a:ext cx="13716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85050" y="23717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14150" y="49879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0" y="17049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6550" y="1349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000" y="519747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55350" y="1349375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50" y="479107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5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750" y="952500"/>
            <a:ext cx="9721850" cy="44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700" y="2476500"/>
            <a:ext cx="1949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50" y="2794000"/>
            <a:ext cx="25273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863600"/>
            <a:ext cx="2139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0" y="4476750"/>
            <a:ext cx="19621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5950" y="1543050"/>
            <a:ext cx="5791200" cy="42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3200" y="571500"/>
            <a:ext cx="4146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7700" y="4311650"/>
            <a:ext cx="1568450" cy="1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4450" y="5099050"/>
            <a:ext cx="1206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00" y="4127500"/>
            <a:ext cx="11112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71000" y="1174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26550" y="908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6400" y="27051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25600" y="22225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60950" y="1511300"/>
            <a:ext cx="21717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44300" y="1797050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32850" y="990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45900" y="19050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950" y="23558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17150" y="4006850"/>
            <a:ext cx="647700" cy="9207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1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type="ctrTitle"/>
          </p:nvPr>
        </p:nvSpPr>
        <p:spPr>
          <a:xfrm>
            <a:off x="576938" y="2950028"/>
            <a:ext cx="6141720" cy="894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Características de Algoritmos e Desafios</a:t>
            </a:r>
            <a:endParaRPr/>
          </a:p>
        </p:txBody>
      </p:sp>
      <p:sp>
        <p:nvSpPr>
          <p:cNvPr id="94" name="Google Shape;94;p9"/>
          <p:cNvSpPr txBox="1"/>
          <p:nvPr>
            <p:ph idx="1" type="subTitle"/>
          </p:nvPr>
        </p:nvSpPr>
        <p:spPr>
          <a:xfrm>
            <a:off x="569325" y="4427625"/>
            <a:ext cx="6660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rPr lang="pt-BR"/>
              <a:t>Pedro Kássio Ribeiro Matos Loureiro de Carvalho</a:t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14095988" y="2133496"/>
            <a:ext cx="3580222" cy="1033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CAPA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type="ctrTitle"/>
          </p:nvPr>
        </p:nvSpPr>
        <p:spPr>
          <a:xfrm>
            <a:off x="576950" y="304450"/>
            <a:ext cx="109515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Características desejáveis para algoritmos</a:t>
            </a:r>
            <a:endParaRPr/>
          </a:p>
        </p:txBody>
      </p:sp>
      <p:sp>
        <p:nvSpPr>
          <p:cNvPr id="101" name="Google Shape;101;p10"/>
          <p:cNvSpPr txBox="1"/>
          <p:nvPr>
            <p:ph idx="1" type="subTitle"/>
          </p:nvPr>
        </p:nvSpPr>
        <p:spPr>
          <a:xfrm>
            <a:off x="544282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/>
              <a:t> </a:t>
            </a:r>
            <a:r>
              <a:rPr lang="pt-BR"/>
              <a:t>Adaptar seus modelos pela incorporação de novos dados</a:t>
            </a:r>
            <a:br>
              <a:rPr lang="pt-BR"/>
            </a:br>
            <a:br>
              <a:rPr lang="pt-BR"/>
            </a:br>
            <a:r>
              <a:rPr lang="pt-BR"/>
              <a:t>Devem ser incrementais</a:t>
            </a:r>
            <a:br>
              <a:rPr lang="pt-BR"/>
            </a:br>
            <a:br>
              <a:rPr lang="pt-BR"/>
            </a:br>
            <a:r>
              <a:rPr lang="pt-BR"/>
              <a:t>Atualização constante do modelo que trata os dados</a:t>
            </a:r>
            <a:br>
              <a:rPr lang="pt-BR"/>
            </a:br>
            <a:endParaRPr/>
          </a:p>
        </p:txBody>
      </p:sp>
      <p:sp>
        <p:nvSpPr>
          <p:cNvPr id="102" name="Google Shape;102;p10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TÓPICOS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O desafio de trabalhar com FCDs</a:t>
            </a:r>
            <a:endParaRPr/>
          </a:p>
        </p:txBody>
      </p:sp>
      <p:sp>
        <p:nvSpPr>
          <p:cNvPr id="108" name="Google Shape;108;p11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/>
              <a:t>Avanços recentes em Hardware e software permitiram a aquisição de dados em larga escala</a:t>
            </a:r>
            <a:br>
              <a:rPr lang="pt-BR"/>
            </a:br>
            <a:br>
              <a:rPr lang="pt-BR"/>
            </a:br>
            <a:r>
              <a:rPr lang="pt-BR"/>
              <a:t>Lidar com grandes quantidades de dados é um grande desafio</a:t>
            </a:r>
            <a:br>
              <a:rPr lang="pt-BR"/>
            </a:br>
            <a:br>
              <a:rPr lang="pt-BR"/>
            </a:br>
            <a:r>
              <a:rPr lang="pt-BR"/>
              <a:t>Conceitos em FCDs podem mudar com o tempo ou surgirem novos</a:t>
            </a:r>
            <a:br>
              <a:rPr lang="pt-BR"/>
            </a:br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>
            <p:ph type="ctrTitle"/>
          </p:nvPr>
        </p:nvSpPr>
        <p:spPr>
          <a:xfrm>
            <a:off x="568230" y="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O desafio de trabalhar com FCDs</a:t>
            </a:r>
            <a:endParaRPr/>
          </a:p>
        </p:txBody>
      </p:sp>
      <p:sp>
        <p:nvSpPr>
          <p:cNvPr id="115" name="Google Shape;115;p12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800"/>
              <a:t>Extrair conhecimento útil a partir de FCDs é uma tarefa muito difícil</a:t>
            </a:r>
            <a:br>
              <a:rPr lang="pt-BR" sz="2800"/>
            </a:br>
            <a:br>
              <a:rPr lang="pt-BR" sz="2800"/>
            </a:br>
            <a:r>
              <a:rPr lang="pt-BR" sz="2800"/>
              <a:t>Maioria dos algoritmos de Machine Learning considera que os dados para o treinamento são finitos</a:t>
            </a:r>
            <a:br>
              <a:rPr lang="pt-BR" sz="2800"/>
            </a:br>
            <a:br>
              <a:rPr lang="pt-BR" sz="2800"/>
            </a:br>
            <a:r>
              <a:rPr lang="pt-BR" sz="2800"/>
              <a:t>Grande dificuldade de manter a acurácia de modelos ao longo do tempo (para casos de Machine Learning)</a:t>
            </a:r>
            <a:br>
              <a:rPr lang="pt-BR" sz="2800"/>
            </a:br>
            <a:br>
              <a:rPr lang="pt-BR"/>
            </a:br>
            <a:endParaRPr/>
          </a:p>
        </p:txBody>
      </p:sp>
      <p:sp>
        <p:nvSpPr>
          <p:cNvPr id="116" name="Google Shape;116;p12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>
            <p:ph type="ctrTitle"/>
          </p:nvPr>
        </p:nvSpPr>
        <p:spPr>
          <a:xfrm>
            <a:off x="568230" y="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O desafio de trabalhar com FCDs</a:t>
            </a:r>
            <a:endParaRPr/>
          </a:p>
        </p:txBody>
      </p:sp>
      <p:sp>
        <p:nvSpPr>
          <p:cNvPr id="122" name="Google Shape;122;p13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/>
              <a:t>Tipos de variações na distribuição dos dados: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t/>
            </a:r>
            <a:endParaRPr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/>
              <a:t>Repentina ou abrupta.</a:t>
            </a:r>
            <a:endParaRPr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/>
              <a:t>Incremental.</a:t>
            </a:r>
            <a:endParaRPr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/>
              <a:t>Gradual.</a:t>
            </a:r>
            <a:endParaRPr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/>
              <a:t>Recorrente.</a:t>
            </a:r>
            <a:endParaRPr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/>
              <a:t>Outlier.</a:t>
            </a:r>
            <a:br>
              <a:rPr lang="pt-BR"/>
            </a:b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DE ENCERRAMENTO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APA ENCERRAMEN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xto corrido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