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6" r:id="rId4"/>
    <p:sldMasterId id="2147483657" r:id="rId5"/>
    <p:sldMasterId id="2147483658" r:id="rId6"/>
    <p:sldMasterId id="2147483659" r:id="rId7"/>
    <p:sldMasterId id="2147483660" r:id="rId8"/>
    <p:sldMasterId id="2147483661" r:id="rId9"/>
    <p:sldMasterId id="2147483662" r:id="rId10"/>
    <p:sldMasterId id="2147483663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8.xml"/><Relationship Id="rId11" Type="http://schemas.openxmlformats.org/officeDocument/2006/relationships/slideMaster" Target="slideMasters/slideMaster8.xml"/><Relationship Id="rId22" Type="http://schemas.openxmlformats.org/officeDocument/2006/relationships/slide" Target="slides/slide10.xml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9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23" Type="http://schemas.openxmlformats.org/officeDocument/2006/relationships/slide" Target="slides/slide11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7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6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ec804405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4ec8044055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ec804405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4ec8044055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4ec804405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4ec8044055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ctrTitle"/>
          </p:nvPr>
        </p:nvSpPr>
        <p:spPr>
          <a:xfrm>
            <a:off x="576940" y="2232725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PARA PERGUNTAS">
  <p:cSld name="SLIDE PARA PERGUNTA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  <a:defRPr b="1" i="0" sz="45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657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CITAÇÃO" type="title">
  <p:cSld name="TITL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4" name="Google Shape;144;p14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9.png"/><Relationship Id="rId13" Type="http://schemas.openxmlformats.org/officeDocument/2006/relationships/image" Target="../media/image20.png"/><Relationship Id="rId12" Type="http://schemas.openxmlformats.org/officeDocument/2006/relationships/image" Target="../media/image5.png"/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13" Type="http://schemas.openxmlformats.org/officeDocument/2006/relationships/image" Target="../media/image18.png"/><Relationship Id="rId12" Type="http://schemas.openxmlformats.org/officeDocument/2006/relationships/image" Target="../media/image3.png"/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5.png"/><Relationship Id="rId16" Type="http://schemas.openxmlformats.org/officeDocument/2006/relationships/theme" Target="../theme/theme7.xml"/><Relationship Id="rId5" Type="http://schemas.openxmlformats.org/officeDocument/2006/relationships/image" Target="../media/image32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3" Type="http://schemas.openxmlformats.org/officeDocument/2006/relationships/image" Target="../media/image30.png"/><Relationship Id="rId12" Type="http://schemas.openxmlformats.org/officeDocument/2006/relationships/image" Target="../media/image31.png"/><Relationship Id="rId1" Type="http://schemas.openxmlformats.org/officeDocument/2006/relationships/image" Target="../media/image17.png"/><Relationship Id="rId2" Type="http://schemas.openxmlformats.org/officeDocument/2006/relationships/image" Target="../media/image16.png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41.png"/><Relationship Id="rId8" Type="http://schemas.openxmlformats.org/officeDocument/2006/relationships/image" Target="../media/image21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3" Type="http://schemas.openxmlformats.org/officeDocument/2006/relationships/image" Target="../media/image30.png"/><Relationship Id="rId12" Type="http://schemas.openxmlformats.org/officeDocument/2006/relationships/image" Target="../media/image31.png"/><Relationship Id="rId1" Type="http://schemas.openxmlformats.org/officeDocument/2006/relationships/image" Target="../media/image17.png"/><Relationship Id="rId2" Type="http://schemas.openxmlformats.org/officeDocument/2006/relationships/image" Target="../media/image16.png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5" Type="http://schemas.openxmlformats.org/officeDocument/2006/relationships/theme" Target="../theme/theme8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41.png"/><Relationship Id="rId8" Type="http://schemas.openxmlformats.org/officeDocument/2006/relationships/image" Target="../media/image21.png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0.png"/><Relationship Id="rId13" Type="http://schemas.openxmlformats.org/officeDocument/2006/relationships/image" Target="../media/image27.png"/><Relationship Id="rId12" Type="http://schemas.openxmlformats.org/officeDocument/2006/relationships/image" Target="../media/image31.png"/><Relationship Id="rId1" Type="http://schemas.openxmlformats.org/officeDocument/2006/relationships/image" Target="../media/image43.png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70.png"/><Relationship Id="rId9" Type="http://schemas.openxmlformats.org/officeDocument/2006/relationships/image" Target="../media/image55.png"/><Relationship Id="rId15" Type="http://schemas.openxmlformats.org/officeDocument/2006/relationships/image" Target="../media/image39.png"/><Relationship Id="rId14" Type="http://schemas.openxmlformats.org/officeDocument/2006/relationships/image" Target="../media/image36.png"/><Relationship Id="rId17" Type="http://schemas.openxmlformats.org/officeDocument/2006/relationships/theme" Target="../theme/theme6.xml"/><Relationship Id="rId16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6" Type="http://schemas.openxmlformats.org/officeDocument/2006/relationships/image" Target="../media/image53.png"/><Relationship Id="rId7" Type="http://schemas.openxmlformats.org/officeDocument/2006/relationships/image" Target="../media/image37.png"/><Relationship Id="rId8" Type="http://schemas.openxmlformats.org/officeDocument/2006/relationships/image" Target="../media/image35.png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.png"/><Relationship Id="rId10" Type="http://schemas.openxmlformats.org/officeDocument/2006/relationships/image" Target="../media/image5.png"/><Relationship Id="rId13" Type="http://schemas.openxmlformats.org/officeDocument/2006/relationships/image" Target="../media/image49.png"/><Relationship Id="rId12" Type="http://schemas.openxmlformats.org/officeDocument/2006/relationships/image" Target="../media/image52.png"/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8.png"/><Relationship Id="rId9" Type="http://schemas.openxmlformats.org/officeDocument/2006/relationships/image" Target="../media/image18.png"/><Relationship Id="rId15" Type="http://schemas.openxmlformats.org/officeDocument/2006/relationships/theme" Target="../theme/theme9.xml"/><Relationship Id="rId14" Type="http://schemas.openxmlformats.org/officeDocument/2006/relationships/slideLayout" Target="../slideLayouts/slideLayout6.xml"/><Relationship Id="rId5" Type="http://schemas.openxmlformats.org/officeDocument/2006/relationships/image" Target="../media/image44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8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9.png"/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46.png"/><Relationship Id="rId4" Type="http://schemas.openxmlformats.org/officeDocument/2006/relationships/image" Target="../media/image57.png"/><Relationship Id="rId9" Type="http://schemas.openxmlformats.org/officeDocument/2006/relationships/image" Target="../media/image5.png"/><Relationship Id="rId14" Type="http://schemas.openxmlformats.org/officeDocument/2006/relationships/theme" Target="../theme/theme2.xml"/><Relationship Id="rId5" Type="http://schemas.openxmlformats.org/officeDocument/2006/relationships/image" Target="../media/image47.png"/><Relationship Id="rId6" Type="http://schemas.openxmlformats.org/officeDocument/2006/relationships/image" Target="../media/image45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image" Target="../media/image69.png"/><Relationship Id="rId11" Type="http://schemas.openxmlformats.org/officeDocument/2006/relationships/image" Target="../media/image68.png"/><Relationship Id="rId22" Type="http://schemas.openxmlformats.org/officeDocument/2006/relationships/theme" Target="../theme/theme4.xml"/><Relationship Id="rId10" Type="http://schemas.openxmlformats.org/officeDocument/2006/relationships/image" Target="../media/image67.png"/><Relationship Id="rId21" Type="http://schemas.openxmlformats.org/officeDocument/2006/relationships/slideLayout" Target="../slideLayouts/slideLayout8.xml"/><Relationship Id="rId13" Type="http://schemas.openxmlformats.org/officeDocument/2006/relationships/image" Target="../media/image31.png"/><Relationship Id="rId12" Type="http://schemas.openxmlformats.org/officeDocument/2006/relationships/image" Target="../media/image11.png"/><Relationship Id="rId1" Type="http://schemas.openxmlformats.org/officeDocument/2006/relationships/image" Target="../media/image54.png"/><Relationship Id="rId2" Type="http://schemas.openxmlformats.org/officeDocument/2006/relationships/image" Target="../media/image50.png"/><Relationship Id="rId3" Type="http://schemas.openxmlformats.org/officeDocument/2006/relationships/image" Target="../media/image63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15" Type="http://schemas.openxmlformats.org/officeDocument/2006/relationships/image" Target="../media/image71.png"/><Relationship Id="rId14" Type="http://schemas.openxmlformats.org/officeDocument/2006/relationships/image" Target="../media/image26.png"/><Relationship Id="rId17" Type="http://schemas.openxmlformats.org/officeDocument/2006/relationships/image" Target="../media/image9.png"/><Relationship Id="rId16" Type="http://schemas.openxmlformats.org/officeDocument/2006/relationships/image" Target="../media/image39.png"/><Relationship Id="rId5" Type="http://schemas.openxmlformats.org/officeDocument/2006/relationships/image" Target="../media/image65.png"/><Relationship Id="rId19" Type="http://schemas.openxmlformats.org/officeDocument/2006/relationships/image" Target="../media/image5.png"/><Relationship Id="rId6" Type="http://schemas.openxmlformats.org/officeDocument/2006/relationships/image" Target="../media/image66.png"/><Relationship Id="rId18" Type="http://schemas.openxmlformats.org/officeDocument/2006/relationships/image" Target="../media/image18.png"/><Relationship Id="rId7" Type="http://schemas.openxmlformats.org/officeDocument/2006/relationships/image" Target="../media/image64.png"/><Relationship Id="rId8" Type="http://schemas.openxmlformats.org/officeDocument/2006/relationships/image" Target="../media/image62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371600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231" y="1565532"/>
            <a:ext cx="2241550" cy="35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2950" y="4718050"/>
            <a:ext cx="248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200" y="15938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0" y="5334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4350" y="1327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47450" y="5054600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2950" y="1952625"/>
            <a:ext cx="22542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99500" y="2762250"/>
            <a:ext cx="26289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0000" y="2971800"/>
            <a:ext cx="2247900" cy="128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35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9750" y="4184650"/>
            <a:ext cx="23749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4150" y="3194050"/>
            <a:ext cx="3092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400" y="1644650"/>
            <a:ext cx="1911350" cy="2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3100" y="1308100"/>
            <a:ext cx="793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500" y="237490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54650" y="432435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11225530" y="3955339"/>
            <a:ext cx="793750" cy="76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ctrTitle"/>
          </p:nvPr>
        </p:nvSpPr>
        <p:spPr>
          <a:xfrm>
            <a:off x="576950" y="2950025"/>
            <a:ext cx="75780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Sistemas de Recomendação</a:t>
            </a:r>
            <a:endParaRPr/>
          </a:p>
        </p:txBody>
      </p:sp>
      <p:sp>
        <p:nvSpPr>
          <p:cNvPr id="173" name="Google Shape;173;p17"/>
          <p:cNvSpPr txBox="1"/>
          <p:nvPr>
            <p:ph idx="1" type="subTitle"/>
          </p:nvPr>
        </p:nvSpPr>
        <p:spPr>
          <a:xfrm>
            <a:off x="576950" y="4178225"/>
            <a:ext cx="6945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ctrTitle"/>
          </p:nvPr>
        </p:nvSpPr>
        <p:spPr>
          <a:xfrm>
            <a:off x="559525" y="2231625"/>
            <a:ext cx="64851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Filtro Colaborativo e Baseados em Conteúdo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ctrTitle"/>
          </p:nvPr>
        </p:nvSpPr>
        <p:spPr>
          <a:xfrm>
            <a:off x="576943" y="0"/>
            <a:ext cx="10951482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Alguns modelos</a:t>
            </a:r>
            <a:endParaRPr/>
          </a:p>
        </p:txBody>
      </p:sp>
      <p:sp>
        <p:nvSpPr>
          <p:cNvPr id="186" name="Google Shape;186;p19"/>
          <p:cNvSpPr txBox="1"/>
          <p:nvPr>
            <p:ph idx="1" type="subTitle"/>
          </p:nvPr>
        </p:nvSpPr>
        <p:spPr>
          <a:xfrm>
            <a:off x="544282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  O modelos mais comuns Sistemas de recomendação trabalham com dois tipos de dados:</a:t>
            </a:r>
            <a:endParaRPr sz="2400"/>
          </a:p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		Interações usuário-item.</a:t>
            </a:r>
            <a:br>
              <a:rPr lang="pt-BR" sz="2400"/>
            </a:br>
            <a:r>
              <a:rPr lang="pt-BR" sz="2400"/>
              <a:t>		Informações de atributos de usuários e itens.</a:t>
            </a:r>
            <a:endParaRPr sz="2400"/>
          </a:p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Filtro Colaborativo.</a:t>
            </a:r>
            <a:br>
              <a:rPr lang="pt-BR" sz="2400"/>
            </a:br>
            <a:r>
              <a:rPr lang="pt-BR" sz="2400"/>
              <a:t>Baseados em conteúdo.</a:t>
            </a:r>
            <a:br>
              <a:rPr lang="pt-BR"/>
            </a:b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Modelos de Filtro Colaborativo</a:t>
            </a:r>
            <a:endParaRPr/>
          </a:p>
        </p:txBody>
      </p:sp>
      <p:sp>
        <p:nvSpPr>
          <p:cNvPr id="193" name="Google Shape;193;p20"/>
          <p:cNvSpPr txBox="1"/>
          <p:nvPr>
            <p:ph idx="1" type="subTitle"/>
          </p:nvPr>
        </p:nvSpPr>
        <p:spPr>
          <a:xfrm>
            <a:off x="576949" y="1524000"/>
            <a:ext cx="8252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Utilizam o potencial de colaboração dos ratings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Grande desafio de trabalhar com matrizes esparsas.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Ratings não observados podem ser gerados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endParaRPr sz="2400"/>
          </a:p>
        </p:txBody>
      </p:sp>
      <p:sp>
        <p:nvSpPr>
          <p:cNvPr id="194" name="Google Shape;194;p20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ctrTitle"/>
          </p:nvPr>
        </p:nvSpPr>
        <p:spPr>
          <a:xfrm>
            <a:off x="568229" y="-1"/>
            <a:ext cx="10960195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Modelos de Filtro Colaborativo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1179577" y="4486113"/>
            <a:ext cx="534900" cy="570900"/>
          </a:xfrm>
          <a:prstGeom prst="triangle">
            <a:avLst>
              <a:gd fmla="val 50000" name="adj"/>
            </a:avLst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1179577" y="4102236"/>
            <a:ext cx="534900" cy="570900"/>
          </a:xfrm>
          <a:prstGeom prst="ellipse">
            <a:avLst/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873901" y="5077581"/>
            <a:ext cx="1243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Usuário 1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7369517" y="4486113"/>
            <a:ext cx="534900" cy="570900"/>
          </a:xfrm>
          <a:prstGeom prst="triangle">
            <a:avLst>
              <a:gd fmla="val 50000" name="adj"/>
            </a:avLst>
          </a:prstGeom>
          <a:solidFill>
            <a:srgbClr val="F5CB9D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369517" y="4102236"/>
            <a:ext cx="534900" cy="570900"/>
          </a:xfrm>
          <a:prstGeom prst="ellipse">
            <a:avLst/>
          </a:prstGeom>
          <a:solidFill>
            <a:srgbClr val="F5CB9D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7015025" y="5071932"/>
            <a:ext cx="1243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Usuário 2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68225" y="1654809"/>
            <a:ext cx="1549500" cy="582900"/>
          </a:xfrm>
          <a:prstGeom prst="roundRect">
            <a:avLst>
              <a:gd fmla="val 16667" name="adj"/>
            </a:avLst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Filme 1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3499751" y="1652101"/>
            <a:ext cx="1549500" cy="582900"/>
          </a:xfrm>
          <a:prstGeom prst="roundRect">
            <a:avLst>
              <a:gd fmla="val 16667" name="adj"/>
            </a:avLst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Filme 2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6593932" y="1652101"/>
            <a:ext cx="1549500" cy="582900"/>
          </a:xfrm>
          <a:prstGeom prst="roundRect">
            <a:avLst>
              <a:gd fmla="val 16667" name="adj"/>
            </a:avLst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Filme 3</a:t>
            </a:r>
            <a:endParaRPr/>
          </a:p>
        </p:txBody>
      </p:sp>
      <p:cxnSp>
        <p:nvCxnSpPr>
          <p:cNvPr id="210" name="Google Shape;210;p21"/>
          <p:cNvCxnSpPr>
            <a:stCxn id="205" idx="2"/>
            <a:endCxn id="207" idx="2"/>
          </p:cNvCxnSpPr>
          <p:nvPr/>
        </p:nvCxnSpPr>
        <p:spPr>
          <a:xfrm rot="10800000">
            <a:off x="1343117" y="2237586"/>
            <a:ext cx="6026400" cy="2150100"/>
          </a:xfrm>
          <a:prstGeom prst="straightConnector1">
            <a:avLst/>
          </a:prstGeom>
          <a:noFill/>
          <a:ln cap="rnd" cmpd="sng" w="9525">
            <a:solidFill>
              <a:srgbClr val="D378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21"/>
          <p:cNvCxnSpPr>
            <a:stCxn id="202" idx="0"/>
            <a:endCxn id="207" idx="2"/>
          </p:cNvCxnSpPr>
          <p:nvPr/>
        </p:nvCxnSpPr>
        <p:spPr>
          <a:xfrm rot="10800000">
            <a:off x="1342927" y="2237736"/>
            <a:ext cx="104100" cy="1864500"/>
          </a:xfrm>
          <a:prstGeom prst="straightConnector1">
            <a:avLst/>
          </a:prstGeom>
          <a:noFill/>
          <a:ln cap="rnd" cmpd="sng" w="9525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21"/>
          <p:cNvCxnSpPr>
            <a:stCxn id="202" idx="7"/>
            <a:endCxn id="208" idx="2"/>
          </p:cNvCxnSpPr>
          <p:nvPr/>
        </p:nvCxnSpPr>
        <p:spPr>
          <a:xfrm flipH="1" rot="10800000">
            <a:off x="1636143" y="2234942"/>
            <a:ext cx="2638500" cy="1950900"/>
          </a:xfrm>
          <a:prstGeom prst="straightConnector1">
            <a:avLst/>
          </a:prstGeom>
          <a:noFill/>
          <a:ln cap="rnd" cmpd="sng" w="9525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21"/>
          <p:cNvCxnSpPr>
            <a:stCxn id="202" idx="6"/>
            <a:endCxn id="209" idx="2"/>
          </p:cNvCxnSpPr>
          <p:nvPr/>
        </p:nvCxnSpPr>
        <p:spPr>
          <a:xfrm flipH="1" rot="10800000">
            <a:off x="1714477" y="2234886"/>
            <a:ext cx="5654100" cy="2152800"/>
          </a:xfrm>
          <a:prstGeom prst="straightConnector1">
            <a:avLst/>
          </a:prstGeom>
          <a:noFill/>
          <a:ln cap="rnd" cmpd="sng" w="9525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21"/>
          <p:cNvCxnSpPr>
            <a:stCxn id="205" idx="1"/>
            <a:endCxn id="208" idx="2"/>
          </p:cNvCxnSpPr>
          <p:nvPr/>
        </p:nvCxnSpPr>
        <p:spPr>
          <a:xfrm rot="10800000">
            <a:off x="4274451" y="2234942"/>
            <a:ext cx="3173400" cy="1950900"/>
          </a:xfrm>
          <a:prstGeom prst="straightConnector1">
            <a:avLst/>
          </a:prstGeom>
          <a:noFill/>
          <a:ln cap="rnd" cmpd="sng" w="9525">
            <a:solidFill>
              <a:srgbClr val="D378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1"/>
          <p:cNvSpPr txBox="1"/>
          <p:nvPr/>
        </p:nvSpPr>
        <p:spPr>
          <a:xfrm>
            <a:off x="1120769" y="3120961"/>
            <a:ext cx="3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A5301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2274662" y="3160388"/>
            <a:ext cx="3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A5301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3134222" y="3767434"/>
            <a:ext cx="3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A5301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529127" y="3767434"/>
            <a:ext cx="3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5CB9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682951" y="3378765"/>
            <a:ext cx="3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5CB9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220" name="Google Shape;220;p21"/>
          <p:cNvCxnSpPr>
            <a:stCxn id="205" idx="0"/>
            <a:endCxn id="209" idx="2"/>
          </p:cNvCxnSpPr>
          <p:nvPr/>
        </p:nvCxnSpPr>
        <p:spPr>
          <a:xfrm rot="10800000">
            <a:off x="7368767" y="2235036"/>
            <a:ext cx="268200" cy="1867200"/>
          </a:xfrm>
          <a:prstGeom prst="straightConnector1">
            <a:avLst/>
          </a:prstGeom>
          <a:noFill/>
          <a:ln cap="rnd" cmpd="sng" w="9525">
            <a:solidFill>
              <a:srgbClr val="D378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21"/>
          <p:cNvSpPr txBox="1"/>
          <p:nvPr/>
        </p:nvSpPr>
        <p:spPr>
          <a:xfrm>
            <a:off x="7496630" y="2960333"/>
            <a:ext cx="3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B</a:t>
            </a:r>
            <a:r>
              <a:rPr lang="pt-BR"/>
              <a:t>aseados em Conteúdo</a:t>
            </a:r>
            <a:endParaRPr/>
          </a:p>
        </p:txBody>
      </p:sp>
      <p:sp>
        <p:nvSpPr>
          <p:cNvPr id="227" name="Google Shape;227;p22"/>
          <p:cNvSpPr txBox="1"/>
          <p:nvPr>
            <p:ph idx="1" type="subTitle"/>
          </p:nvPr>
        </p:nvSpPr>
        <p:spPr>
          <a:xfrm>
            <a:off x="576950" y="2423425"/>
            <a:ext cx="8252400" cy="38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Os atributos dos itens ou dos usuários são utilizados para fazer recomendações.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Os ratings são combinados com informações de conteúdo. 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Muito bom para o problema de cold start.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Exemplo:</a:t>
            </a:r>
            <a:br>
              <a:rPr lang="pt-BR" sz="2400"/>
            </a:br>
            <a:r>
              <a:rPr lang="pt-BR" sz="2400"/>
              <a:t>Categoria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Autor</a:t>
            </a:r>
            <a:br>
              <a:rPr lang="pt-BR" sz="2400"/>
            </a:br>
            <a:r>
              <a:rPr lang="pt-BR" sz="2400"/>
              <a:t>Descrição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Diretor</a:t>
            </a:r>
            <a:br>
              <a:rPr lang="pt-BR" sz="2400"/>
            </a:br>
            <a:br>
              <a:rPr lang="pt-BR" sz="2400"/>
            </a:b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endParaRPr sz="2400"/>
          </a:p>
        </p:txBody>
      </p:sp>
      <p:sp>
        <p:nvSpPr>
          <p:cNvPr id="228" name="Google Shape;228;p22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Baseados em Conteúdo</a:t>
            </a:r>
            <a:endParaRPr/>
          </a:p>
        </p:txBody>
      </p:sp>
      <p:sp>
        <p:nvSpPr>
          <p:cNvPr id="234" name="Google Shape;234;p23"/>
          <p:cNvSpPr txBox="1"/>
          <p:nvPr>
            <p:ph idx="1" type="subTitle"/>
          </p:nvPr>
        </p:nvSpPr>
        <p:spPr>
          <a:xfrm>
            <a:off x="576950" y="2423425"/>
            <a:ext cx="8252400" cy="38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Usuário assistiu filmes como a trilogia de “O Senhor dos Anéis”.</a:t>
            </a:r>
            <a:br>
              <a:rPr lang="pt-BR" sz="2400"/>
            </a:b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Similaridade muito elevada com “O Hobbit”, que o usuário ainda não assistiu.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Atores</a:t>
            </a:r>
            <a:br>
              <a:rPr lang="pt-BR" sz="2400"/>
            </a:br>
            <a:r>
              <a:rPr lang="pt-BR" sz="2400"/>
              <a:t>Escritor</a:t>
            </a:r>
            <a:br>
              <a:rPr lang="pt-BR" sz="2400"/>
            </a:br>
            <a:r>
              <a:rPr lang="pt-BR" sz="2400"/>
              <a:t>Gênero</a:t>
            </a:r>
            <a:br>
              <a:rPr lang="pt-BR" sz="2400"/>
            </a:br>
            <a:r>
              <a:rPr lang="pt-BR" sz="2400"/>
              <a:t>Enredo</a:t>
            </a:r>
            <a:br>
              <a:rPr lang="pt-BR" sz="2400"/>
            </a:br>
            <a:r>
              <a:rPr lang="pt-BR" sz="2400"/>
              <a:t>Diretor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Forte recomendação.</a:t>
            </a:r>
            <a:br>
              <a:rPr lang="pt-BR" sz="2400"/>
            </a:br>
            <a:br>
              <a:rPr lang="pt-BR" sz="2400"/>
            </a:b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endParaRPr sz="2400"/>
          </a:p>
        </p:txBody>
      </p:sp>
      <p:sp>
        <p:nvSpPr>
          <p:cNvPr id="235" name="Google Shape;235;p23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Baseados em Conteúdo</a:t>
            </a:r>
            <a:endParaRPr/>
          </a:p>
        </p:txBody>
      </p:sp>
      <p:sp>
        <p:nvSpPr>
          <p:cNvPr id="241" name="Google Shape;241;p24"/>
          <p:cNvSpPr txBox="1"/>
          <p:nvPr>
            <p:ph idx="1" type="subTitle"/>
          </p:nvPr>
        </p:nvSpPr>
        <p:spPr>
          <a:xfrm>
            <a:off x="576950" y="2423425"/>
            <a:ext cx="8252400" cy="38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Usuário assistiu filmes como a trilogia de “O Senhor dos Anéis”.</a:t>
            </a:r>
            <a:br>
              <a:rPr lang="pt-BR" sz="2400"/>
            </a:b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Similaridade muito elevada com “O Hobbit”, que o usuário ainda não assistiu.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Atores</a:t>
            </a:r>
            <a:br>
              <a:rPr lang="pt-BR" sz="2400"/>
            </a:br>
            <a:r>
              <a:rPr lang="pt-BR" sz="2400"/>
              <a:t>Escritor</a:t>
            </a:r>
            <a:br>
              <a:rPr lang="pt-BR" sz="2400"/>
            </a:br>
            <a:r>
              <a:rPr lang="pt-BR" sz="2400"/>
              <a:t>Gênero</a:t>
            </a:r>
            <a:br>
              <a:rPr lang="pt-BR" sz="2400"/>
            </a:br>
            <a:r>
              <a:rPr lang="pt-BR" sz="2400"/>
              <a:t>Enredo</a:t>
            </a:r>
            <a:br>
              <a:rPr lang="pt-BR" sz="2400"/>
            </a:br>
            <a:r>
              <a:rPr lang="pt-BR" sz="2400"/>
              <a:t>Diretor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Forte recomendação.</a:t>
            </a:r>
            <a:br>
              <a:rPr lang="pt-BR" sz="2400"/>
            </a:br>
            <a:br>
              <a:rPr lang="pt-BR" sz="2400"/>
            </a:b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endParaRPr sz="2400"/>
          </a:p>
        </p:txBody>
      </p:sp>
      <p:sp>
        <p:nvSpPr>
          <p:cNvPr id="242" name="Google Shape;242;p24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Recomendação de Leitura - Machine Learning Library do Apache Spark</a:t>
            </a:r>
            <a:endParaRPr b="1"/>
          </a:p>
        </p:txBody>
      </p:sp>
      <p:sp>
        <p:nvSpPr>
          <p:cNvPr id="248" name="Google Shape;248;p25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PERGUNTAS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CITAÇÕES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