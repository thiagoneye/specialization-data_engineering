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6" r:id="rId4"/>
    <p:sldMasterId id="2147483657" r:id="rId5"/>
    <p:sldMasterId id="2147483658" r:id="rId6"/>
    <p:sldMasterId id="2147483659" r:id="rId7"/>
    <p:sldMasterId id="2147483660" r:id="rId8"/>
    <p:sldMasterId id="2147483661" r:id="rId9"/>
    <p:sldMasterId id="2147483662" r:id="rId10"/>
    <p:sldMasterId id="2147483663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8.xml"/><Relationship Id="rId11" Type="http://schemas.openxmlformats.org/officeDocument/2006/relationships/slideMaster" Target="slideMasters/slideMaster8.xml"/><Relationship Id="rId22" Type="http://schemas.openxmlformats.org/officeDocument/2006/relationships/slide" Target="slides/slide10.xml"/><Relationship Id="rId10" Type="http://schemas.openxmlformats.org/officeDocument/2006/relationships/slideMaster" Target="slideMasters/slideMaster7.xml"/><Relationship Id="rId21" Type="http://schemas.openxmlformats.org/officeDocument/2006/relationships/slide" Target="slides/slide9.xml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7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6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f59fd7f2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4f59fd7f2d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4f59fd7f2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4f59fd7f2d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PARAÇÃO DE CAPÍTULOS">
  <p:cSld name="SEPARAÇÃO DE CAPÍTULO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ctrTitle"/>
          </p:nvPr>
        </p:nvSpPr>
        <p:spPr>
          <a:xfrm>
            <a:off x="576940" y="2232725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ÓPICOS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6"/>
          <p:cNvSpPr txBox="1"/>
          <p:nvPr>
            <p:ph idx="1" type="subTitle"/>
          </p:nvPr>
        </p:nvSpPr>
        <p:spPr>
          <a:xfrm>
            <a:off x="52251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Char char="▪"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5" name="Google Shape;85;p8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EXTO CORRIDO" type="title">
  <p:cSld name="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ctrTitle"/>
          </p:nvPr>
        </p:nvSpPr>
        <p:spPr>
          <a:xfrm>
            <a:off x="568229" y="1"/>
            <a:ext cx="10284828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  <a:defRPr b="0" i="0" sz="35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PARA PERGUNTAS">
  <p:cSld name="SLIDE PARA PERGUNTA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type="ctrTitle"/>
          </p:nvPr>
        </p:nvSpPr>
        <p:spPr>
          <a:xfrm>
            <a:off x="544286" y="2235200"/>
            <a:ext cx="600891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  <a:defRPr b="1" i="0" sz="45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3657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CITAÇÃO" type="title">
  <p:cSld name="TITL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ctrTitle"/>
          </p:nvPr>
        </p:nvSpPr>
        <p:spPr>
          <a:xfrm>
            <a:off x="572583" y="1861471"/>
            <a:ext cx="5926187" cy="210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4" name="Google Shape;144;p14"/>
          <p:cNvSpPr txBox="1"/>
          <p:nvPr>
            <p:ph idx="1" type="subTitle"/>
          </p:nvPr>
        </p:nvSpPr>
        <p:spPr>
          <a:xfrm>
            <a:off x="561698" y="4231651"/>
            <a:ext cx="5882642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12.png"/><Relationship Id="rId13" Type="http://schemas.openxmlformats.org/officeDocument/2006/relationships/image" Target="../media/image11.png"/><Relationship Id="rId12" Type="http://schemas.openxmlformats.org/officeDocument/2006/relationships/image" Target="../media/image18.png"/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9.png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7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9.png"/><Relationship Id="rId13" Type="http://schemas.openxmlformats.org/officeDocument/2006/relationships/image" Target="../media/image21.png"/><Relationship Id="rId12" Type="http://schemas.openxmlformats.org/officeDocument/2006/relationships/image" Target="../media/image7.png"/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8.png"/><Relationship Id="rId16" Type="http://schemas.openxmlformats.org/officeDocument/2006/relationships/theme" Target="../theme/theme9.xml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20.png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32.png"/><Relationship Id="rId1" Type="http://schemas.openxmlformats.org/officeDocument/2006/relationships/image" Target="../media/image31.png"/><Relationship Id="rId2" Type="http://schemas.openxmlformats.org/officeDocument/2006/relationships/image" Target="../media/image34.png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5" Type="http://schemas.openxmlformats.org/officeDocument/2006/relationships/theme" Target="../theme/theme7.xml"/><Relationship Id="rId14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Relationship Id="rId8" Type="http://schemas.openxmlformats.org/officeDocument/2006/relationships/image" Target="../media/image24.png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32.png"/><Relationship Id="rId1" Type="http://schemas.openxmlformats.org/officeDocument/2006/relationships/image" Target="../media/image31.png"/><Relationship Id="rId2" Type="http://schemas.openxmlformats.org/officeDocument/2006/relationships/image" Target="../media/image34.png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Relationship Id="rId8" Type="http://schemas.openxmlformats.org/officeDocument/2006/relationships/image" Target="../media/image24.png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2.png"/><Relationship Id="rId13" Type="http://schemas.openxmlformats.org/officeDocument/2006/relationships/image" Target="../media/image27.png"/><Relationship Id="rId12" Type="http://schemas.openxmlformats.org/officeDocument/2006/relationships/image" Target="../media/image32.png"/><Relationship Id="rId1" Type="http://schemas.openxmlformats.org/officeDocument/2006/relationships/image" Target="../media/image35.png"/><Relationship Id="rId2" Type="http://schemas.openxmlformats.org/officeDocument/2006/relationships/image" Target="../media/image33.png"/><Relationship Id="rId3" Type="http://schemas.openxmlformats.org/officeDocument/2006/relationships/image" Target="../media/image45.png"/><Relationship Id="rId4" Type="http://schemas.openxmlformats.org/officeDocument/2006/relationships/image" Target="../media/image38.png"/><Relationship Id="rId9" Type="http://schemas.openxmlformats.org/officeDocument/2006/relationships/image" Target="../media/image36.png"/><Relationship Id="rId15" Type="http://schemas.openxmlformats.org/officeDocument/2006/relationships/image" Target="../media/image48.png"/><Relationship Id="rId14" Type="http://schemas.openxmlformats.org/officeDocument/2006/relationships/image" Target="../media/image44.png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5.xml"/><Relationship Id="rId5" Type="http://schemas.openxmlformats.org/officeDocument/2006/relationships/image" Target="../media/image41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Relationship Id="rId8" Type="http://schemas.openxmlformats.org/officeDocument/2006/relationships/image" Target="../media/image37.png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1.png"/><Relationship Id="rId10" Type="http://schemas.openxmlformats.org/officeDocument/2006/relationships/image" Target="../media/image18.png"/><Relationship Id="rId13" Type="http://schemas.openxmlformats.org/officeDocument/2006/relationships/image" Target="../media/image62.png"/><Relationship Id="rId12" Type="http://schemas.openxmlformats.org/officeDocument/2006/relationships/image" Target="../media/image43.png"/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9" Type="http://schemas.openxmlformats.org/officeDocument/2006/relationships/image" Target="../media/image21.png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6.xml"/><Relationship Id="rId5" Type="http://schemas.openxmlformats.org/officeDocument/2006/relationships/image" Target="../media/image53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1.png"/><Relationship Id="rId10" Type="http://schemas.openxmlformats.org/officeDocument/2006/relationships/image" Target="../media/image50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3.png"/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9" Type="http://schemas.openxmlformats.org/officeDocument/2006/relationships/image" Target="../media/image18.png"/><Relationship Id="rId14" Type="http://schemas.openxmlformats.org/officeDocument/2006/relationships/theme" Target="../theme/theme8.xml"/><Relationship Id="rId5" Type="http://schemas.openxmlformats.org/officeDocument/2006/relationships/image" Target="../media/image49.png"/><Relationship Id="rId6" Type="http://schemas.openxmlformats.org/officeDocument/2006/relationships/image" Target="../media/image57.png"/><Relationship Id="rId7" Type="http://schemas.openxmlformats.org/officeDocument/2006/relationships/image" Target="../media/image9.png"/><Relationship Id="rId8" Type="http://schemas.openxmlformats.org/officeDocument/2006/relationships/image" Target="../media/image21.png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image" Target="../media/image69.png"/><Relationship Id="rId11" Type="http://schemas.openxmlformats.org/officeDocument/2006/relationships/image" Target="../media/image70.png"/><Relationship Id="rId22" Type="http://schemas.openxmlformats.org/officeDocument/2006/relationships/theme" Target="../theme/theme5.xml"/><Relationship Id="rId10" Type="http://schemas.openxmlformats.org/officeDocument/2006/relationships/image" Target="../media/image67.png"/><Relationship Id="rId21" Type="http://schemas.openxmlformats.org/officeDocument/2006/relationships/slideLayout" Target="../slideLayouts/slideLayout8.xml"/><Relationship Id="rId13" Type="http://schemas.openxmlformats.org/officeDocument/2006/relationships/image" Target="../media/image32.png"/><Relationship Id="rId12" Type="http://schemas.openxmlformats.org/officeDocument/2006/relationships/image" Target="../media/image9.png"/><Relationship Id="rId1" Type="http://schemas.openxmlformats.org/officeDocument/2006/relationships/image" Target="../media/image68.png"/><Relationship Id="rId2" Type="http://schemas.openxmlformats.org/officeDocument/2006/relationships/image" Target="../media/image56.png"/><Relationship Id="rId3" Type="http://schemas.openxmlformats.org/officeDocument/2006/relationships/image" Target="../media/image58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5" Type="http://schemas.openxmlformats.org/officeDocument/2006/relationships/image" Target="../media/image66.png"/><Relationship Id="rId14" Type="http://schemas.openxmlformats.org/officeDocument/2006/relationships/image" Target="../media/image29.png"/><Relationship Id="rId17" Type="http://schemas.openxmlformats.org/officeDocument/2006/relationships/image" Target="../media/image12.png"/><Relationship Id="rId16" Type="http://schemas.openxmlformats.org/officeDocument/2006/relationships/image" Target="../media/image48.png"/><Relationship Id="rId5" Type="http://schemas.openxmlformats.org/officeDocument/2006/relationships/image" Target="../media/image64.png"/><Relationship Id="rId19" Type="http://schemas.openxmlformats.org/officeDocument/2006/relationships/image" Target="../media/image18.png"/><Relationship Id="rId6" Type="http://schemas.openxmlformats.org/officeDocument/2006/relationships/image" Target="../media/image54.png"/><Relationship Id="rId18" Type="http://schemas.openxmlformats.org/officeDocument/2006/relationships/image" Target="../media/image21.png"/><Relationship Id="rId7" Type="http://schemas.openxmlformats.org/officeDocument/2006/relationships/image" Target="../media/image55.png"/><Relationship Id="rId8" Type="http://schemas.openxmlformats.org/officeDocument/2006/relationships/image" Target="../media/image59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5700" y="2435225"/>
            <a:ext cx="35687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350" y="1958975"/>
            <a:ext cx="18097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0" y="2206625"/>
            <a:ext cx="577850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2550" y="2219325"/>
            <a:ext cx="5905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750" y="2536825"/>
            <a:ext cx="27305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50" y="3190875"/>
            <a:ext cx="806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18192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17300" y="50323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31600" y="21304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1650" y="19018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99850" y="467042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696700" y="2200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1650" y="535622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5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700"/>
            <a:ext cx="1219200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5550" y="1562100"/>
            <a:ext cx="20764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0" y="3644900"/>
            <a:ext cx="1295400" cy="32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7350" y="5651500"/>
            <a:ext cx="7874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5850" y="2324100"/>
            <a:ext cx="9461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1650" y="3028950"/>
            <a:ext cx="1225550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28450" y="622300"/>
            <a:ext cx="46355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31500" y="4044950"/>
            <a:ext cx="1651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1550" y="214630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709400" y="1358900"/>
            <a:ext cx="88900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87050" y="290830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87050" y="42291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7100" y="2305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88650" y="29908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82250" y="54038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56850" y="555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85450" y="5416550"/>
            <a:ext cx="38100" cy="38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6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371600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231" y="1565532"/>
            <a:ext cx="2241550" cy="35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2950" y="4718050"/>
            <a:ext cx="2489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8200" y="15938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9500" y="5334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4350" y="1327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47450" y="5054600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92950" y="1952625"/>
            <a:ext cx="22542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99500" y="2762250"/>
            <a:ext cx="26289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90000" y="2971800"/>
            <a:ext cx="2247900" cy="1289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135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90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9750" y="4184650"/>
            <a:ext cx="23749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4150" y="3194050"/>
            <a:ext cx="3092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7400" y="1644650"/>
            <a:ext cx="1911350" cy="2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23100" y="1308100"/>
            <a:ext cx="793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7500" y="237490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54650" y="432435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11225530" y="3955339"/>
            <a:ext cx="793750" cy="76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ctrTitle"/>
          </p:nvPr>
        </p:nvSpPr>
        <p:spPr>
          <a:xfrm>
            <a:off x="576938" y="2950028"/>
            <a:ext cx="6141720" cy="894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Ferramentas para Processamento de Dados em Real Time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 txBox="1"/>
          <p:nvPr>
            <p:ph idx="1" type="subTitle"/>
          </p:nvPr>
        </p:nvSpPr>
        <p:spPr>
          <a:xfrm>
            <a:off x="576950" y="4226150"/>
            <a:ext cx="65763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ctrTitle"/>
          </p:nvPr>
        </p:nvSpPr>
        <p:spPr>
          <a:xfrm>
            <a:off x="559520" y="2231636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Apache Spark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SEPARAR CAPÍTULO/ TÓPICO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ctrTitle"/>
          </p:nvPr>
        </p:nvSpPr>
        <p:spPr>
          <a:xfrm>
            <a:off x="576943" y="0"/>
            <a:ext cx="10951482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Apache Spark Streaming</a:t>
            </a:r>
            <a:endParaRPr/>
          </a:p>
        </p:txBody>
      </p:sp>
      <p:sp>
        <p:nvSpPr>
          <p:cNvPr id="186" name="Google Shape;186;p19"/>
          <p:cNvSpPr txBox="1"/>
          <p:nvPr>
            <p:ph idx="1" type="subTitle"/>
          </p:nvPr>
        </p:nvSpPr>
        <p:spPr>
          <a:xfrm>
            <a:off x="544276" y="1524000"/>
            <a:ext cx="81489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A outra ferramenta muito utilizada para processamento em Real time é o Apache Spark</a:t>
            </a:r>
            <a:br>
              <a:rPr lang="pt-BR" sz="2400"/>
            </a:br>
            <a:br>
              <a:rPr lang="pt-BR" sz="2400"/>
            </a:br>
            <a:r>
              <a:rPr lang="pt-BR" sz="2400"/>
              <a:t>Desenvolvido desde 2009 pela AMPLab da Universidade de Califórnia em Berkley e em 2010 seu código foi aberto como projeto da fundação Apache</a:t>
            </a:r>
            <a:br>
              <a:rPr lang="pt-BR" sz="2400"/>
            </a:br>
            <a:br>
              <a:rPr lang="pt-BR" sz="2400"/>
            </a:br>
            <a:r>
              <a:rPr lang="pt-BR" sz="2400"/>
              <a:t>O Spark permite que aplicações em clusters Hadoop executem até 100 vezes mais rápido em memória e até 10 vezes mais rápido em disco, desenvolver rapidamente aplicações em Java, Scala ou Python</a:t>
            </a:r>
            <a:br>
              <a:rPr lang="pt-BR" sz="2400"/>
            </a:br>
            <a:endParaRPr sz="2400"/>
          </a:p>
        </p:txBody>
      </p:sp>
      <p:sp>
        <p:nvSpPr>
          <p:cNvPr id="187" name="Google Shape;187;p19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Apache Spark Streaming</a:t>
            </a:r>
            <a:endParaRPr/>
          </a:p>
        </p:txBody>
      </p:sp>
      <p:sp>
        <p:nvSpPr>
          <p:cNvPr id="193" name="Google Shape;193;p20"/>
          <p:cNvSpPr txBox="1"/>
          <p:nvPr>
            <p:ph idx="1" type="subTitle"/>
          </p:nvPr>
        </p:nvSpPr>
        <p:spPr>
          <a:xfrm>
            <a:off x="576949" y="1524000"/>
            <a:ext cx="8377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A ferramenta Spark Streaming, de processamento distribuído em tempo real, trabalha com estruturas chamadas de microbatches</a:t>
            </a:r>
            <a:br>
              <a:rPr lang="pt-BR" sz="2400"/>
            </a:br>
            <a:br>
              <a:rPr lang="pt-BR" sz="2400"/>
            </a:br>
            <a:r>
              <a:rPr lang="pt-BR" sz="2400"/>
              <a:t>Essas estruturas são pequenos pacotes de dados que são processados muito rapidamente, gerando a noção de Real Time ou Near Real Time</a:t>
            </a:r>
            <a:br>
              <a:rPr lang="pt-BR" sz="2400"/>
            </a:br>
            <a:br>
              <a:rPr lang="pt-BR" sz="2400"/>
            </a:br>
            <a:r>
              <a:rPr lang="pt-BR" sz="2400"/>
              <a:t>Essa é umas das principais diferenças entre o Spark streaming e o Apache Storm</a:t>
            </a:r>
            <a:br>
              <a:rPr lang="pt-BR" sz="2400"/>
            </a:br>
            <a:br>
              <a:rPr lang="pt-BR" sz="2400"/>
            </a:br>
            <a:r>
              <a:rPr lang="pt-BR" sz="2400"/>
              <a:t>O Storm processa os eventos um a um, a medida que chegam, já com o Spark Streaming eles são processados em microbatches</a:t>
            </a:r>
            <a:br>
              <a:rPr lang="pt-BR" sz="2400"/>
            </a:br>
            <a:endParaRPr sz="2400"/>
          </a:p>
        </p:txBody>
      </p:sp>
      <p:sp>
        <p:nvSpPr>
          <p:cNvPr id="194" name="Google Shape;194;p20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type="ctrTitle"/>
          </p:nvPr>
        </p:nvSpPr>
        <p:spPr>
          <a:xfrm>
            <a:off x="568229" y="-1"/>
            <a:ext cx="10960195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/>
              <a:t>Estrutura básica de uma aplicação com Spark Streaming: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descr="Resultado de imagem para spark streami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62" y="2699937"/>
            <a:ext cx="6338830" cy="3576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spark streami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7337" y="5487587"/>
            <a:ext cx="1644711" cy="1218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Apache Spark Streaming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descr="Resultado de imagem para spark streami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787" y="1993275"/>
            <a:ext cx="8016113" cy="3145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spark streaming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487" y="5342712"/>
            <a:ext cx="1644711" cy="1218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Apache Spark Streaming</a:t>
            </a:r>
            <a:endParaRPr/>
          </a:p>
        </p:txBody>
      </p:sp>
      <p:sp>
        <p:nvSpPr>
          <p:cNvPr id="217" name="Google Shape;217;p23"/>
          <p:cNvSpPr txBox="1"/>
          <p:nvPr>
            <p:ph idx="1" type="subTitle"/>
          </p:nvPr>
        </p:nvSpPr>
        <p:spPr>
          <a:xfrm>
            <a:off x="576949" y="1524000"/>
            <a:ext cx="8377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O fluxo de dados no Spark Streaming ocorre a partir da estrutura de um DStream</a:t>
            </a:r>
            <a:br>
              <a:rPr lang="pt-BR" sz="2400"/>
            </a:br>
            <a:br>
              <a:rPr lang="pt-BR" sz="2400"/>
            </a:br>
            <a:r>
              <a:rPr lang="pt-BR" sz="2400"/>
              <a:t>Essa estrutura irá trabalhar com pequenos pacotes de tamanho fixo que são processados em pequenos intervalos de tempo</a:t>
            </a:r>
            <a:br>
              <a:rPr lang="pt-BR" sz="2400"/>
            </a:br>
            <a:br>
              <a:rPr lang="pt-BR" sz="2400"/>
            </a:br>
            <a:r>
              <a:rPr lang="pt-BR" sz="2400"/>
              <a:t>Outra opção possível é trabalhar com janelas de tempo, onde alguns pacotes são acumulados para então serem processados</a:t>
            </a:r>
            <a:br>
              <a:rPr lang="pt-BR" sz="2400"/>
            </a:b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endParaRPr sz="2400"/>
          </a:p>
        </p:txBody>
      </p:sp>
      <p:sp>
        <p:nvSpPr>
          <p:cNvPr id="218" name="Google Shape;218;p23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ctrTitle"/>
          </p:nvPr>
        </p:nvSpPr>
        <p:spPr>
          <a:xfrm>
            <a:off x="544286" y="2235200"/>
            <a:ext cx="600891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</a:pPr>
            <a:r>
              <a:rPr lang="pt-BR"/>
              <a:t>Leitura da Documentação do Spark</a:t>
            </a:r>
            <a:endParaRPr b="1"/>
          </a:p>
        </p:txBody>
      </p:sp>
      <p:sp>
        <p:nvSpPr>
          <p:cNvPr id="224" name="Google Shape;224;p24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PERGUNTAS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ctrTitle"/>
          </p:nvPr>
        </p:nvSpPr>
        <p:spPr>
          <a:xfrm>
            <a:off x="572583" y="1861471"/>
            <a:ext cx="5926187" cy="210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</a:pPr>
            <a:r>
              <a:rPr lang="pt-BR"/>
              <a:t>Dúvidas?</a:t>
            </a:r>
            <a:endParaRPr/>
          </a:p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561698" y="4231651"/>
            <a:ext cx="5882642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CITAÇÕES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 TEXTO CORRI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3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