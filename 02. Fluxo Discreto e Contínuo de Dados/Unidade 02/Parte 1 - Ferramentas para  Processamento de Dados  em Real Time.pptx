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6" r:id="rId4"/>
    <p:sldMasterId id="2147483657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9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7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ec5bb70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4ec5bb701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4" name="Google Shape;144;p14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13" Type="http://schemas.openxmlformats.org/officeDocument/2006/relationships/image" Target="../media/image9.png"/><Relationship Id="rId12" Type="http://schemas.openxmlformats.org/officeDocument/2006/relationships/image" Target="../media/image11.png"/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72.png"/><Relationship Id="rId8" Type="http://schemas.openxmlformats.org/officeDocument/2006/relationships/image" Target="../media/image8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2.png"/><Relationship Id="rId13" Type="http://schemas.openxmlformats.org/officeDocument/2006/relationships/image" Target="../media/image21.png"/><Relationship Id="rId12" Type="http://schemas.openxmlformats.org/officeDocument/2006/relationships/image" Target="../media/image5.png"/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29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.png"/><Relationship Id="rId16" Type="http://schemas.openxmlformats.org/officeDocument/2006/relationships/theme" Target="../theme/theme8.xml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18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" Type="http://schemas.openxmlformats.org/officeDocument/2006/relationships/image" Target="../media/image19.png"/><Relationship Id="rId2" Type="http://schemas.openxmlformats.org/officeDocument/2006/relationships/image" Target="../media/image24.png"/><Relationship Id="rId3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20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18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" Type="http://schemas.openxmlformats.org/officeDocument/2006/relationships/image" Target="../media/image19.png"/><Relationship Id="rId2" Type="http://schemas.openxmlformats.org/officeDocument/2006/relationships/image" Target="../media/image24.png"/><Relationship Id="rId3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20.png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13" Type="http://schemas.openxmlformats.org/officeDocument/2006/relationships/image" Target="../media/image26.png"/><Relationship Id="rId12" Type="http://schemas.openxmlformats.org/officeDocument/2006/relationships/image" Target="../media/image30.png"/><Relationship Id="rId1" Type="http://schemas.openxmlformats.org/officeDocument/2006/relationships/image" Target="../media/image35.png"/><Relationship Id="rId2" Type="http://schemas.openxmlformats.org/officeDocument/2006/relationships/image" Target="../media/image39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5" Type="http://schemas.openxmlformats.org/officeDocument/2006/relationships/image" Target="../media/image45.png"/><Relationship Id="rId14" Type="http://schemas.openxmlformats.org/officeDocument/2006/relationships/image" Target="../media/image52.png"/><Relationship Id="rId17" Type="http://schemas.openxmlformats.org/officeDocument/2006/relationships/theme" Target="../theme/theme9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46.png"/><Relationship Id="rId8" Type="http://schemas.openxmlformats.org/officeDocument/2006/relationships/image" Target="../media/image41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11.png"/><Relationship Id="rId13" Type="http://schemas.openxmlformats.org/officeDocument/2006/relationships/image" Target="../media/image64.png"/><Relationship Id="rId12" Type="http://schemas.openxmlformats.org/officeDocument/2006/relationships/image" Target="../media/image51.png"/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9" Type="http://schemas.openxmlformats.org/officeDocument/2006/relationships/image" Target="../media/image21.png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50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4.png"/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11.png"/><Relationship Id="rId14" Type="http://schemas.openxmlformats.org/officeDocument/2006/relationships/theme" Target="../theme/theme5.xml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image" Target="../media/image66.png"/><Relationship Id="rId11" Type="http://schemas.openxmlformats.org/officeDocument/2006/relationships/image" Target="../media/image67.png"/><Relationship Id="rId22" Type="http://schemas.openxmlformats.org/officeDocument/2006/relationships/theme" Target="../theme/theme7.xml"/><Relationship Id="rId10" Type="http://schemas.openxmlformats.org/officeDocument/2006/relationships/image" Target="../media/image73.png"/><Relationship Id="rId21" Type="http://schemas.openxmlformats.org/officeDocument/2006/relationships/slideLayout" Target="../slideLayouts/slideLayout8.xml"/><Relationship Id="rId13" Type="http://schemas.openxmlformats.org/officeDocument/2006/relationships/image" Target="../media/image30.png"/><Relationship Id="rId12" Type="http://schemas.openxmlformats.org/officeDocument/2006/relationships/image" Target="../media/image12.png"/><Relationship Id="rId1" Type="http://schemas.openxmlformats.org/officeDocument/2006/relationships/image" Target="../media/image60.png"/><Relationship Id="rId2" Type="http://schemas.openxmlformats.org/officeDocument/2006/relationships/image" Target="../media/image59.png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9.png"/><Relationship Id="rId15" Type="http://schemas.openxmlformats.org/officeDocument/2006/relationships/image" Target="../media/image63.png"/><Relationship Id="rId14" Type="http://schemas.openxmlformats.org/officeDocument/2006/relationships/image" Target="../media/image18.png"/><Relationship Id="rId17" Type="http://schemas.openxmlformats.org/officeDocument/2006/relationships/image" Target="../media/image3.png"/><Relationship Id="rId16" Type="http://schemas.openxmlformats.org/officeDocument/2006/relationships/image" Target="../media/image45.png"/><Relationship Id="rId5" Type="http://schemas.openxmlformats.org/officeDocument/2006/relationships/image" Target="../media/image61.png"/><Relationship Id="rId19" Type="http://schemas.openxmlformats.org/officeDocument/2006/relationships/image" Target="../media/image11.png"/><Relationship Id="rId6" Type="http://schemas.openxmlformats.org/officeDocument/2006/relationships/image" Target="../media/image62.png"/><Relationship Id="rId18" Type="http://schemas.openxmlformats.org/officeDocument/2006/relationships/image" Target="../media/image21.png"/><Relationship Id="rId7" Type="http://schemas.openxmlformats.org/officeDocument/2006/relationships/image" Target="../media/image70.png"/><Relationship Id="rId8" Type="http://schemas.openxmlformats.org/officeDocument/2006/relationships/image" Target="../media/image65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ctrTitle"/>
          </p:nvPr>
        </p:nvSpPr>
        <p:spPr>
          <a:xfrm>
            <a:off x="576950" y="2950025"/>
            <a:ext cx="77880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Processamento de Dados em Real Time</a:t>
            </a:r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576950" y="4573875"/>
            <a:ext cx="6744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ctrTitle"/>
          </p:nvPr>
        </p:nvSpPr>
        <p:spPr>
          <a:xfrm>
            <a:off x="559520" y="2231636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Storm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ctrTitle"/>
          </p:nvPr>
        </p:nvSpPr>
        <p:spPr>
          <a:xfrm>
            <a:off x="576950" y="198775"/>
            <a:ext cx="109515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Processamento de Dados em Real Time</a:t>
            </a:r>
            <a:endParaRPr/>
          </a:p>
        </p:txBody>
      </p:sp>
      <p:sp>
        <p:nvSpPr>
          <p:cNvPr id="186" name="Google Shape;186;p19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Existem duas ferramentas mais utilizadas para processamento de dados em tempo real</a:t>
            </a:r>
            <a:br>
              <a:rPr lang="pt-BR" sz="2400"/>
            </a:br>
            <a:br>
              <a:rPr lang="pt-BR" sz="2400"/>
            </a:br>
            <a:r>
              <a:rPr lang="pt-BR" sz="2400"/>
              <a:t>A primeira delas é o Apache Storm</a:t>
            </a:r>
            <a:br>
              <a:rPr lang="pt-BR" sz="2400"/>
            </a:br>
            <a:br>
              <a:rPr lang="pt-BR" sz="2400"/>
            </a:br>
            <a:r>
              <a:rPr lang="pt-BR" sz="2400"/>
              <a:t>A Apache Software Foundation (ASF) afirma que o Storm é capaz de processar mais de 1 milhão de tuplas (registros) por segundo em cada nó</a:t>
            </a:r>
            <a:endParaRPr sz="2400"/>
          </a:p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/>
            </a:b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  <p:pic>
        <p:nvPicPr>
          <p:cNvPr descr="Resultado de imagem para apache storm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512" y="5108575"/>
            <a:ext cx="3810000" cy="1389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Storm</a:t>
            </a:r>
            <a:endParaRPr/>
          </a:p>
        </p:txBody>
      </p:sp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576949" y="1524000"/>
            <a:ext cx="82323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O Apache Storm possui um formato no qual 2 estruturas básicas são utilizadas para compor o seu pipeline: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r>
              <a:rPr lang="pt-BR" sz="2400"/>
              <a:t>Spouts: estrutura que irá de tempos em tempos buscar dados que serão enviados para a estrutura de Bolts. É um estrutura de fontes de dados para o pipeline de processamento</a:t>
            </a:r>
            <a:br>
              <a:rPr lang="pt-BR" sz="2400"/>
            </a:br>
            <a:br>
              <a:rPr lang="pt-BR" sz="2400"/>
            </a:br>
            <a:r>
              <a:rPr lang="pt-BR" sz="2400"/>
              <a:t>Bolts: estrutura que irá executar alguma transformação no dado, seja de alteração em algum valor ou enriquecimento. Um bolt pode ser fonte de dados para outro bolt existente no pipeline</a:t>
            </a:r>
            <a:br>
              <a:rPr lang="pt-BR" sz="2400"/>
            </a:br>
            <a:endParaRPr sz="2400"/>
          </a:p>
        </p:txBody>
      </p:sp>
      <p:sp>
        <p:nvSpPr>
          <p:cNvPr id="195" name="Google Shape;195;p2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Storm</a:t>
            </a:r>
            <a:endParaRPr/>
          </a:p>
        </p:txBody>
      </p:sp>
      <p:sp>
        <p:nvSpPr>
          <p:cNvPr id="201" name="Google Shape;201;p21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Essa é a arquitetura básica do Apache Storm, onde temos uma fonte de dados, o spout e o processamento nos bolts.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/>
            </a:b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Resultado de imagem para apache storm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998" y="2924175"/>
            <a:ext cx="7863726" cy="32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Apache Storm</a:t>
            </a:r>
            <a:endParaRPr/>
          </a:p>
        </p:txBody>
      </p:sp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576948" y="1447800"/>
            <a:ext cx="77589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Os spouts do Apache Storm podem utilizar com fonte de dados:</a:t>
            </a:r>
            <a:br>
              <a:rPr lang="pt-BR" sz="2400"/>
            </a:br>
            <a:br>
              <a:rPr lang="pt-BR" sz="2400"/>
            </a:br>
            <a:r>
              <a:rPr lang="pt-BR" sz="2400"/>
              <a:t>	Bancos de dados</a:t>
            </a:r>
            <a:br>
              <a:rPr lang="pt-BR" sz="2400"/>
            </a:br>
            <a:r>
              <a:rPr lang="pt-BR" sz="2400"/>
              <a:t>	Um serviço (exemplo: consulta de bolsa de valores)</a:t>
            </a:r>
            <a:br>
              <a:rPr lang="pt-BR" sz="2400"/>
            </a:br>
            <a:r>
              <a:rPr lang="pt-BR" sz="2400"/>
              <a:t>	Um tópico do Kafka</a:t>
            </a:r>
            <a:br>
              <a:rPr lang="pt-BR" sz="2400"/>
            </a:br>
            <a:r>
              <a:rPr lang="pt-BR" sz="2400"/>
              <a:t>	Um arquivo texto</a:t>
            </a:r>
            <a:br>
              <a:rPr lang="pt-BR" sz="2400"/>
            </a:br>
            <a:r>
              <a:rPr lang="pt-BR" sz="2400"/>
              <a:t>	Outros</a:t>
            </a:r>
            <a:br>
              <a:rPr lang="pt-BR" sz="2400"/>
            </a:br>
            <a:br>
              <a:rPr lang="pt-BR" sz="2400"/>
            </a:br>
            <a:r>
              <a:rPr lang="pt-BR" sz="2400"/>
              <a:t>Foi criado por Nathan Marz enquanto trabalhava na empresa Backtype, com processamento de dados do Twitter. Posteriormente o próprio Twitter comprou a empresa.</a:t>
            </a:r>
            <a:br>
              <a:rPr lang="pt-BR"/>
            </a:b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ctrTitle"/>
          </p:nvPr>
        </p:nvSpPr>
        <p:spPr>
          <a:xfrm>
            <a:off x="544274" y="2235200"/>
            <a:ext cx="6458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Leitura Recomendada - Documentação do Storm</a:t>
            </a:r>
            <a:endParaRPr b="1"/>
          </a:p>
        </p:txBody>
      </p:sp>
      <p:sp>
        <p:nvSpPr>
          <p:cNvPr id="216" name="Google Shape;216;p23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