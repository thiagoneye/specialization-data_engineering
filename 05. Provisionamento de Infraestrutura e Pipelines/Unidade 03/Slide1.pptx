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19"/>
  </p:notesMasterIdLst>
  <p:handoutMasterIdLst>
    <p:handoutMasterId r:id="rId20"/>
  </p:handoutMasterIdLst>
  <p:sldIdLst>
    <p:sldId id="266" r:id="rId8"/>
    <p:sldId id="260" r:id="rId9"/>
    <p:sldId id="267" r:id="rId10"/>
    <p:sldId id="269" r:id="rId11"/>
    <p:sldId id="270" r:id="rId12"/>
    <p:sldId id="271" r:id="rId13"/>
    <p:sldId id="268" r:id="rId14"/>
    <p:sldId id="272" r:id="rId15"/>
    <p:sldId id="273" r:id="rId16"/>
    <p:sldId id="274" r:id="rId17"/>
    <p:sldId id="261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C25E"/>
    <a:srgbClr val="99CE7E"/>
    <a:srgbClr val="4A6B9E"/>
    <a:srgbClr val="E1B0E2"/>
    <a:srgbClr val="CE7FCF"/>
    <a:srgbClr val="475D87"/>
    <a:srgbClr val="6B4D89"/>
    <a:srgbClr val="6353D9"/>
    <a:srgbClr val="7163DC"/>
    <a:srgbClr val="77C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3" autoAdjust="0"/>
    <p:restoredTop sz="96405" autoAdjust="0"/>
  </p:normalViewPr>
  <p:slideViewPr>
    <p:cSldViewPr snapToGrid="0">
      <p:cViewPr varScale="1">
        <p:scale>
          <a:sx n="126" d="100"/>
          <a:sy n="126" d="100"/>
        </p:scale>
        <p:origin x="448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31/08/2023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31/08/2023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97A3D-AC07-440E-861A-1A04F9FB11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9819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97A3D-AC07-440E-861A-1A04F9FB11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2498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97A3D-AC07-440E-861A-1A04F9FB11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929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503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6CAC46E-BDA3-436E-800E-8F36421A38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41"/>
          <a:stretch/>
        </p:blipFill>
        <p:spPr>
          <a:xfrm>
            <a:off x="5810250" y="-1"/>
            <a:ext cx="6381750" cy="689754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94F23D6-7E72-4792-AF7A-95466B961D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371" r="84922"/>
          <a:stretch/>
        </p:blipFill>
        <p:spPr>
          <a:xfrm>
            <a:off x="0" y="4619625"/>
            <a:ext cx="1838325" cy="22383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47" y="713766"/>
            <a:ext cx="1113478" cy="1166851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2335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133" y="169305"/>
            <a:ext cx="871679" cy="91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189" y="6349925"/>
            <a:ext cx="1606086" cy="14487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E6F88A7-5992-4E00-930B-B13A089E12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189" y="6349925"/>
            <a:ext cx="1606086" cy="14487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CF2427E-4BBB-414C-8253-BBD0A8CC07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189" y="6349925"/>
            <a:ext cx="1606086" cy="14487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7E8C573-A53D-4BCB-BD2E-86B8922B00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" t="2273" r="1450" b="11047"/>
          <a:stretch/>
        </p:blipFill>
        <p:spPr>
          <a:xfrm>
            <a:off x="164592" y="146303"/>
            <a:ext cx="11850624" cy="596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850" b="33116"/>
          <a:stretch/>
        </p:blipFill>
        <p:spPr>
          <a:xfrm>
            <a:off x="4791456" y="1783079"/>
            <a:ext cx="2542032" cy="280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rgbClr val="4A6B9E"/>
                </a:solidFill>
                <a:latin typeface="Trebuchet MS" panose="020B0603020202020204" pitchFamily="34" charset="0"/>
              </a:rPr>
              <a:t>Definição de Requisitos</a:t>
            </a:r>
          </a:p>
          <a:p>
            <a:pPr algn="ctr"/>
            <a:endParaRPr lang="pt-BR" sz="3600" b="1" dirty="0">
              <a:solidFill>
                <a:srgbClr val="4A6B9E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7FC25E"/>
                </a:solidFill>
                <a:latin typeface="Trebuchet MS" panose="020B0603020202020204" pitchFamily="34" charset="0"/>
              </a:rPr>
              <a:t>Thiago Sousa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527304" y="1487285"/>
            <a:ext cx="11137392" cy="4310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identificação dos requisitos para o projeto de arquitetura de dados escalável inclui a análise do tráfego esperado, do volume de dados, do número de usuários e da carga de trabalho.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dirty="0" err="1"/>
              <a:t>Ao</a:t>
            </a:r>
            <a:r>
              <a:rPr lang="en-US" sz="2800" dirty="0"/>
              <a:t> </a:t>
            </a:r>
            <a:r>
              <a:rPr lang="en-US" sz="2800" dirty="0" err="1"/>
              <a:t>analisar</a:t>
            </a:r>
            <a:r>
              <a:rPr lang="en-US" sz="2800" dirty="0"/>
              <a:t> o </a:t>
            </a:r>
            <a:r>
              <a:rPr lang="en-US" sz="2800" dirty="0" err="1"/>
              <a:t>tráfego</a:t>
            </a:r>
            <a:r>
              <a:rPr lang="en-US" sz="2800" dirty="0"/>
              <a:t> </a:t>
            </a:r>
            <a:r>
              <a:rPr lang="en-US" sz="2800" dirty="0" err="1"/>
              <a:t>esperado</a:t>
            </a:r>
            <a:r>
              <a:rPr lang="en-US" sz="2800" dirty="0"/>
              <a:t>, </a:t>
            </a:r>
            <a:r>
              <a:rPr lang="en-US" sz="2800" dirty="0" err="1"/>
              <a:t>é</a:t>
            </a:r>
            <a:r>
              <a:rPr lang="en-US" sz="2800" dirty="0"/>
              <a:t> </a:t>
            </a:r>
            <a:r>
              <a:rPr lang="en-US" sz="2800" dirty="0" err="1"/>
              <a:t>possível</a:t>
            </a:r>
            <a:r>
              <a:rPr lang="en-US" sz="2800" dirty="0"/>
              <a:t> </a:t>
            </a:r>
            <a:r>
              <a:rPr lang="en-US" sz="2800" dirty="0" err="1"/>
              <a:t>determinar</a:t>
            </a:r>
            <a:r>
              <a:rPr lang="en-US" sz="2800" dirty="0"/>
              <a:t> a </a:t>
            </a:r>
            <a:r>
              <a:rPr lang="en-US" sz="2800" dirty="0" err="1"/>
              <a:t>quantidade</a:t>
            </a:r>
            <a:r>
              <a:rPr lang="en-US" sz="2800" dirty="0"/>
              <a:t> de dados que a </a:t>
            </a:r>
            <a:r>
              <a:rPr lang="en-US" sz="2800" dirty="0" err="1"/>
              <a:t>aplicação</a:t>
            </a:r>
            <a:r>
              <a:rPr lang="en-US" sz="2800" dirty="0"/>
              <a:t> </a:t>
            </a:r>
            <a:r>
              <a:rPr lang="en-US" sz="2800" dirty="0" err="1"/>
              <a:t>irá</a:t>
            </a:r>
            <a:r>
              <a:rPr lang="en-US" sz="2800" dirty="0"/>
              <a:t> </a:t>
            </a:r>
            <a:r>
              <a:rPr lang="en-US" sz="2800" dirty="0" err="1"/>
              <a:t>processar</a:t>
            </a:r>
            <a:r>
              <a:rPr lang="en-US" sz="2800" dirty="0"/>
              <a:t> e </a:t>
            </a:r>
            <a:r>
              <a:rPr lang="en-US" sz="2800" dirty="0" err="1"/>
              <a:t>armazenar</a:t>
            </a:r>
            <a:r>
              <a:rPr lang="en-US" sz="2800" dirty="0"/>
              <a:t>. </a:t>
            </a:r>
            <a:r>
              <a:rPr lang="en-US" sz="2800" dirty="0" err="1"/>
              <a:t>Isso</a:t>
            </a:r>
            <a:r>
              <a:rPr lang="en-US" sz="2800" dirty="0"/>
              <a:t> </a:t>
            </a:r>
            <a:r>
              <a:rPr lang="en-US" sz="2800" dirty="0" err="1"/>
              <a:t>permite</a:t>
            </a:r>
            <a:r>
              <a:rPr lang="en-US" sz="2800" dirty="0"/>
              <a:t> </a:t>
            </a:r>
            <a:r>
              <a:rPr lang="en-US" sz="2800" dirty="0" err="1"/>
              <a:t>escolher</a:t>
            </a:r>
            <a:r>
              <a:rPr lang="en-US" sz="2800" dirty="0"/>
              <a:t> a </a:t>
            </a:r>
            <a:r>
              <a:rPr lang="en-US" sz="2800" dirty="0" err="1"/>
              <a:t>melhor</a:t>
            </a:r>
            <a:r>
              <a:rPr lang="en-US" sz="2800" dirty="0"/>
              <a:t> </a:t>
            </a:r>
            <a:r>
              <a:rPr lang="en-US" sz="2800" dirty="0" err="1"/>
              <a:t>estratégia</a:t>
            </a:r>
            <a:r>
              <a:rPr lang="en-US" sz="2800" dirty="0"/>
              <a:t> de </a:t>
            </a:r>
            <a:r>
              <a:rPr lang="en-US" sz="2800" dirty="0" err="1"/>
              <a:t>escalonamento</a:t>
            </a:r>
            <a:r>
              <a:rPr lang="en-US" sz="2800" dirty="0"/>
              <a:t> para a </a:t>
            </a:r>
            <a:r>
              <a:rPr lang="en-US" sz="2800" dirty="0" err="1"/>
              <a:t>arquitetura</a:t>
            </a:r>
            <a:r>
              <a:rPr lang="en-US" sz="2800" dirty="0"/>
              <a:t> de dados, </a:t>
            </a:r>
            <a:r>
              <a:rPr lang="en-US" sz="2800" dirty="0" err="1"/>
              <a:t>seja</a:t>
            </a:r>
            <a:r>
              <a:rPr lang="en-US" sz="2800" dirty="0"/>
              <a:t> </a:t>
            </a:r>
            <a:r>
              <a:rPr lang="en-US" sz="2800" dirty="0" err="1"/>
              <a:t>ela</a:t>
            </a:r>
            <a:r>
              <a:rPr lang="en-US" sz="2800" dirty="0"/>
              <a:t> vertical </a:t>
            </a:r>
            <a:r>
              <a:rPr lang="en-US" sz="2800" dirty="0" err="1"/>
              <a:t>ou</a:t>
            </a:r>
            <a:r>
              <a:rPr lang="en-US" sz="2800" dirty="0"/>
              <a:t> horizontal.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A </a:t>
            </a:r>
            <a:r>
              <a:rPr lang="en-US" sz="2800" dirty="0" err="1"/>
              <a:t>análise</a:t>
            </a:r>
            <a:r>
              <a:rPr lang="en-US" sz="2800" dirty="0"/>
              <a:t> do </a:t>
            </a:r>
            <a:r>
              <a:rPr lang="en-US" sz="2800" dirty="0" err="1"/>
              <a:t>número</a:t>
            </a:r>
            <a:r>
              <a:rPr lang="en-US" sz="2800" dirty="0"/>
              <a:t> de </a:t>
            </a:r>
            <a:r>
              <a:rPr lang="en-US" sz="2800" dirty="0" err="1"/>
              <a:t>usuários</a:t>
            </a:r>
            <a:r>
              <a:rPr lang="en-US" sz="2800" dirty="0"/>
              <a:t> e da carga de </a:t>
            </a:r>
            <a:r>
              <a:rPr lang="en-US" sz="2800" dirty="0" err="1"/>
              <a:t>trabalho</a:t>
            </a:r>
            <a:r>
              <a:rPr lang="en-US" sz="2800" dirty="0"/>
              <a:t> </a:t>
            </a:r>
            <a:r>
              <a:rPr lang="en-US" sz="2800" dirty="0" err="1"/>
              <a:t>ajuda</a:t>
            </a:r>
            <a:r>
              <a:rPr lang="en-US" sz="2800" dirty="0"/>
              <a:t> a </a:t>
            </a:r>
            <a:r>
              <a:rPr lang="en-US" sz="2800" dirty="0" err="1"/>
              <a:t>definir</a:t>
            </a:r>
            <a:r>
              <a:rPr lang="en-US" sz="2800" dirty="0"/>
              <a:t> a </a:t>
            </a:r>
            <a:r>
              <a:rPr lang="en-US" sz="2800" dirty="0" err="1"/>
              <a:t>capacidade</a:t>
            </a:r>
            <a:r>
              <a:rPr lang="en-US" sz="2800" dirty="0"/>
              <a:t> </a:t>
            </a:r>
            <a:r>
              <a:rPr lang="en-US" sz="2800" dirty="0" err="1"/>
              <a:t>necessária</a:t>
            </a:r>
            <a:r>
              <a:rPr lang="en-US" sz="2800" dirty="0"/>
              <a:t> da </a:t>
            </a:r>
            <a:r>
              <a:rPr lang="en-US" sz="2800" dirty="0" err="1"/>
              <a:t>arquitetura</a:t>
            </a:r>
            <a:r>
              <a:rPr lang="en-US" sz="2800" dirty="0"/>
              <a:t>. </a:t>
            </a:r>
            <a:endParaRPr lang="pt-BR" sz="2800" dirty="0"/>
          </a:p>
        </p:txBody>
      </p:sp>
      <p:sp>
        <p:nvSpPr>
          <p:cNvPr id="2" name="CaixaDeTexto 1"/>
          <p:cNvSpPr txBox="1"/>
          <p:nvPr/>
        </p:nvSpPr>
        <p:spPr>
          <a:xfrm>
            <a:off x="443211" y="94544"/>
            <a:ext cx="1144398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>
                <a:solidFill>
                  <a:schemeClr val="bg1"/>
                </a:solidFill>
              </a:rPr>
              <a:t>Identificação dos requisitos do projeto de arquitetura de dados escalável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43211" y="1914005"/>
            <a:ext cx="11137392" cy="241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de requisitos é uma etapa fundamental na definição de uma arquitetura de dados escalável. Durante essa fase, é necessário identificar os requisitos funcionais e não funcionais do projeto, bem como compreender as restrições de orçamento e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800" dirty="0"/>
          </a:p>
        </p:txBody>
      </p:sp>
      <p:sp>
        <p:nvSpPr>
          <p:cNvPr id="2" name="CaixaDeTexto 1"/>
          <p:cNvSpPr txBox="1"/>
          <p:nvPr/>
        </p:nvSpPr>
        <p:spPr>
          <a:xfrm>
            <a:off x="443211" y="145344"/>
            <a:ext cx="101705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Análise de requisitos</a:t>
            </a:r>
          </a:p>
        </p:txBody>
      </p:sp>
    </p:spTree>
    <p:extLst>
      <p:ext uri="{BB962C8B-B14F-4D97-AF65-F5344CB8AC3E}">
        <p14:creationId xmlns:p14="http://schemas.microsoft.com/office/powerpoint/2010/main" val="130929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43211" y="1376708"/>
            <a:ext cx="11137392" cy="504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Os requisitos funcionais definem as funcionalidades que o sistema deve fornecer para atender às necessidades do usuário. 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Por exemplo, se o projeto envolver a criação de uma loja online, um requisito funcional pode ser a capacidade de adicionar produtos ao carrinho de compras.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Já os requisitos não funcionais dizem respeito às características do sistema, como a escalabilidade, a disponibilidade e o desempenho. 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Por exemplo, se o projeto envolver a criação de uma aplicação de streaming de vídeo, um requisito não funcional pode ser a capacidade de suportar um grande número de usuários simultâneos.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2" name="CaixaDeTexto 1"/>
          <p:cNvSpPr txBox="1"/>
          <p:nvPr/>
        </p:nvSpPr>
        <p:spPr>
          <a:xfrm>
            <a:off x="443211" y="145344"/>
            <a:ext cx="101705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Análise de requisitos</a:t>
            </a:r>
          </a:p>
        </p:txBody>
      </p:sp>
    </p:spTree>
    <p:extLst>
      <p:ext uri="{BB962C8B-B14F-4D97-AF65-F5344CB8AC3E}">
        <p14:creationId xmlns:p14="http://schemas.microsoft.com/office/powerpoint/2010/main" val="4277140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43211" y="1376708"/>
            <a:ext cx="11137392" cy="2988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 err="1"/>
              <a:t>Além</a:t>
            </a:r>
            <a:r>
              <a:rPr lang="en-US" sz="2400" dirty="0"/>
              <a:t> dos </a:t>
            </a:r>
            <a:r>
              <a:rPr lang="en-US" sz="2400" dirty="0" err="1"/>
              <a:t>requisitos</a:t>
            </a:r>
            <a:r>
              <a:rPr lang="en-US" sz="2400" dirty="0"/>
              <a:t> </a:t>
            </a:r>
            <a:r>
              <a:rPr lang="en-US" sz="2400" dirty="0" err="1"/>
              <a:t>funcionais</a:t>
            </a:r>
            <a:r>
              <a:rPr lang="en-US" sz="2400" dirty="0"/>
              <a:t> e </a:t>
            </a:r>
            <a:r>
              <a:rPr lang="en-US" sz="2400" dirty="0" err="1"/>
              <a:t>não</a:t>
            </a:r>
            <a:r>
              <a:rPr lang="en-US" sz="2400" dirty="0"/>
              <a:t> </a:t>
            </a:r>
            <a:r>
              <a:rPr lang="en-US" sz="2400" dirty="0" err="1"/>
              <a:t>funcionais</a:t>
            </a:r>
            <a:r>
              <a:rPr lang="en-US" sz="2400" dirty="0"/>
              <a:t>, </a:t>
            </a:r>
            <a:r>
              <a:rPr lang="en-US" sz="2400" dirty="0" err="1"/>
              <a:t>é</a:t>
            </a:r>
            <a:r>
              <a:rPr lang="en-US" sz="2400" dirty="0"/>
              <a:t> </a:t>
            </a:r>
            <a:r>
              <a:rPr lang="en-US" sz="2400" dirty="0" err="1"/>
              <a:t>importante</a:t>
            </a:r>
            <a:r>
              <a:rPr lang="en-US" sz="2400" dirty="0"/>
              <a:t> </a:t>
            </a:r>
            <a:r>
              <a:rPr lang="en-US" sz="2400" dirty="0" err="1"/>
              <a:t>compreender</a:t>
            </a:r>
            <a:r>
              <a:rPr lang="en-US" sz="2400" dirty="0"/>
              <a:t> as </a:t>
            </a:r>
            <a:r>
              <a:rPr lang="en-US" sz="2400" dirty="0" err="1"/>
              <a:t>restrições</a:t>
            </a:r>
            <a:r>
              <a:rPr lang="en-US" sz="2400" dirty="0"/>
              <a:t> de </a:t>
            </a:r>
            <a:r>
              <a:rPr lang="en-US" sz="2400" dirty="0" err="1"/>
              <a:t>orçamento</a:t>
            </a:r>
            <a:r>
              <a:rPr lang="en-US" sz="2400" dirty="0"/>
              <a:t> e tempo do </a:t>
            </a:r>
            <a:r>
              <a:rPr lang="en-US" sz="2400" dirty="0" err="1"/>
              <a:t>projeto</a:t>
            </a:r>
            <a:r>
              <a:rPr lang="en-US" sz="2400" dirty="0"/>
              <a:t>. 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Por </a:t>
            </a:r>
            <a:r>
              <a:rPr lang="en-US" sz="2400" dirty="0" err="1"/>
              <a:t>exemplo</a:t>
            </a:r>
            <a:r>
              <a:rPr lang="en-US" sz="2400" dirty="0"/>
              <a:t>, se o </a:t>
            </a:r>
            <a:r>
              <a:rPr lang="en-US" sz="2400" dirty="0" err="1"/>
              <a:t>orçamento</a:t>
            </a:r>
            <a:r>
              <a:rPr lang="en-US" sz="2400" dirty="0"/>
              <a:t> for </a:t>
            </a:r>
            <a:r>
              <a:rPr lang="en-US" sz="2400" dirty="0" err="1"/>
              <a:t>limitado</a:t>
            </a:r>
            <a:r>
              <a:rPr lang="en-US" sz="2400" dirty="0"/>
              <a:t>, </a:t>
            </a:r>
            <a:r>
              <a:rPr lang="en-US" sz="2400" dirty="0" err="1"/>
              <a:t>pode</a:t>
            </a:r>
            <a:r>
              <a:rPr lang="en-US" sz="2400" dirty="0"/>
              <a:t> ser </a:t>
            </a:r>
            <a:r>
              <a:rPr lang="en-US" sz="2400" dirty="0" err="1"/>
              <a:t>necessário</a:t>
            </a:r>
            <a:r>
              <a:rPr lang="en-US" sz="2400" dirty="0"/>
              <a:t> </a:t>
            </a:r>
            <a:r>
              <a:rPr lang="en-US" sz="2400" dirty="0" err="1"/>
              <a:t>escolher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estratégia</a:t>
            </a:r>
            <a:r>
              <a:rPr lang="en-US" sz="2400" dirty="0"/>
              <a:t> de </a:t>
            </a:r>
            <a:r>
              <a:rPr lang="en-US" sz="2400" dirty="0" err="1"/>
              <a:t>escalonamento</a:t>
            </a:r>
            <a:r>
              <a:rPr lang="en-US" sz="2400" dirty="0"/>
              <a:t> </a:t>
            </a:r>
            <a:r>
              <a:rPr lang="en-US" sz="2400" dirty="0" err="1"/>
              <a:t>mais</a:t>
            </a:r>
            <a:r>
              <a:rPr lang="en-US" sz="2400" dirty="0"/>
              <a:t> simples, </a:t>
            </a:r>
            <a:r>
              <a:rPr lang="en-US" sz="2400" dirty="0" err="1"/>
              <a:t>como</a:t>
            </a:r>
            <a:r>
              <a:rPr lang="en-US" sz="2400" dirty="0"/>
              <a:t> o </a:t>
            </a:r>
            <a:r>
              <a:rPr lang="en-US" sz="2400" dirty="0" err="1"/>
              <a:t>escalonamento</a:t>
            </a:r>
            <a:r>
              <a:rPr lang="en-US" sz="2400" dirty="0"/>
              <a:t> vertical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vez</a:t>
            </a:r>
            <a:r>
              <a:rPr lang="en-US" sz="2400" dirty="0"/>
              <a:t> do </a:t>
            </a:r>
            <a:r>
              <a:rPr lang="en-US" sz="2400" dirty="0" err="1"/>
              <a:t>escalonamento</a:t>
            </a:r>
            <a:r>
              <a:rPr lang="en-US" sz="2400" dirty="0"/>
              <a:t> horizontal.</a:t>
            </a:r>
            <a:endParaRPr lang="pt-BR" sz="2400" dirty="0"/>
          </a:p>
        </p:txBody>
      </p:sp>
      <p:sp>
        <p:nvSpPr>
          <p:cNvPr id="2" name="CaixaDeTexto 1"/>
          <p:cNvSpPr txBox="1"/>
          <p:nvPr/>
        </p:nvSpPr>
        <p:spPr>
          <a:xfrm>
            <a:off x="443211" y="145344"/>
            <a:ext cx="101705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Análise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8296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43211" y="1376708"/>
            <a:ext cx="11137392" cy="4795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Criação</a:t>
            </a:r>
            <a:r>
              <a:rPr lang="en-US" sz="2000" dirty="0"/>
              <a:t> de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plataforma</a:t>
            </a:r>
            <a:r>
              <a:rPr lang="en-US" sz="2000" dirty="0"/>
              <a:t> de </a:t>
            </a:r>
            <a:r>
              <a:rPr lang="en-US" sz="2000" dirty="0" err="1"/>
              <a:t>jogos</a:t>
            </a:r>
            <a:r>
              <a:rPr lang="en-US" sz="2000" dirty="0"/>
              <a:t> online. </a:t>
            </a:r>
          </a:p>
          <a:p>
            <a:endParaRPr lang="en-US" sz="2000" dirty="0"/>
          </a:p>
          <a:p>
            <a:r>
              <a:rPr lang="en-US" sz="2000" dirty="0" err="1"/>
              <a:t>Nesse</a:t>
            </a:r>
            <a:r>
              <a:rPr lang="en-US" sz="2000" dirty="0"/>
              <a:t> </a:t>
            </a:r>
            <a:r>
              <a:rPr lang="en-US" sz="2000" dirty="0" err="1"/>
              <a:t>projeto</a:t>
            </a:r>
            <a:r>
              <a:rPr lang="en-US" sz="2000" dirty="0"/>
              <a:t>,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requisitos</a:t>
            </a:r>
            <a:r>
              <a:rPr lang="en-US" sz="2000" dirty="0"/>
              <a:t> </a:t>
            </a:r>
            <a:r>
              <a:rPr lang="en-US" sz="2000" dirty="0" err="1"/>
              <a:t>funcionais</a:t>
            </a:r>
            <a:r>
              <a:rPr lang="en-US" sz="2000" dirty="0"/>
              <a:t> </a:t>
            </a:r>
            <a:r>
              <a:rPr lang="en-US" sz="2000" dirty="0" err="1"/>
              <a:t>podem</a:t>
            </a:r>
            <a:r>
              <a:rPr lang="en-US" sz="2000" dirty="0"/>
              <a:t> </a:t>
            </a:r>
            <a:r>
              <a:rPr lang="en-US" sz="2000" dirty="0" err="1"/>
              <a:t>incluir</a:t>
            </a:r>
            <a:r>
              <a:rPr lang="en-US" sz="2000" dirty="0"/>
              <a:t> a </a:t>
            </a:r>
            <a:r>
              <a:rPr lang="en-US" sz="2000" dirty="0" err="1"/>
              <a:t>capacidade</a:t>
            </a:r>
            <a:r>
              <a:rPr lang="en-US" sz="2000" dirty="0"/>
              <a:t> de </a:t>
            </a:r>
            <a:r>
              <a:rPr lang="en-US" sz="2000" dirty="0" err="1"/>
              <a:t>criar</a:t>
            </a:r>
            <a:r>
              <a:rPr lang="en-US" sz="2000" dirty="0"/>
              <a:t> e </a:t>
            </a:r>
            <a:r>
              <a:rPr lang="en-US" sz="2000" dirty="0" err="1"/>
              <a:t>gerenciar</a:t>
            </a:r>
            <a:r>
              <a:rPr lang="en-US" sz="2000" dirty="0"/>
              <a:t> </a:t>
            </a:r>
            <a:r>
              <a:rPr lang="en-US" sz="2000" dirty="0" err="1"/>
              <a:t>perfis</a:t>
            </a:r>
            <a:r>
              <a:rPr lang="en-US" sz="2000" dirty="0"/>
              <a:t> de </a:t>
            </a:r>
            <a:r>
              <a:rPr lang="en-US" sz="2000" dirty="0" err="1"/>
              <a:t>usuários</a:t>
            </a:r>
            <a:r>
              <a:rPr lang="en-US" sz="2000" dirty="0"/>
              <a:t>, a </a:t>
            </a:r>
            <a:r>
              <a:rPr lang="en-US" sz="2000" dirty="0" err="1"/>
              <a:t>possibilidade</a:t>
            </a:r>
            <a:r>
              <a:rPr lang="en-US" sz="2000" dirty="0"/>
              <a:t> de </a:t>
            </a:r>
            <a:r>
              <a:rPr lang="en-US" sz="2000" dirty="0" err="1"/>
              <a:t>jogar</a:t>
            </a:r>
            <a:r>
              <a:rPr lang="en-US" sz="2000" dirty="0"/>
              <a:t> </a:t>
            </a:r>
            <a:r>
              <a:rPr lang="en-US" sz="2000" dirty="0" err="1"/>
              <a:t>diversos</a:t>
            </a:r>
            <a:r>
              <a:rPr lang="en-US" sz="2000" dirty="0"/>
              <a:t> </a:t>
            </a:r>
            <a:r>
              <a:rPr lang="en-US" sz="2000" dirty="0" err="1"/>
              <a:t>jogos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tempo real e a </a:t>
            </a:r>
            <a:r>
              <a:rPr lang="en-US" sz="2000" dirty="0" err="1"/>
              <a:t>opção</a:t>
            </a:r>
            <a:r>
              <a:rPr lang="en-US" sz="2000" dirty="0"/>
              <a:t> de </a:t>
            </a:r>
            <a:r>
              <a:rPr lang="en-US" sz="2000" dirty="0" err="1"/>
              <a:t>comprar</a:t>
            </a:r>
            <a:r>
              <a:rPr lang="en-US" sz="2000" dirty="0"/>
              <a:t> </a:t>
            </a:r>
            <a:r>
              <a:rPr lang="en-US" sz="2000" dirty="0" err="1"/>
              <a:t>itens</a:t>
            </a:r>
            <a:r>
              <a:rPr lang="en-US" sz="2000" dirty="0"/>
              <a:t> </a:t>
            </a:r>
            <a:r>
              <a:rPr lang="en-US" sz="2000" dirty="0" err="1"/>
              <a:t>virtuais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 err="1"/>
              <a:t>Já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requisitos</a:t>
            </a:r>
            <a:r>
              <a:rPr lang="en-US" sz="2000" dirty="0"/>
              <a:t>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funcionais</a:t>
            </a:r>
            <a:r>
              <a:rPr lang="en-US" sz="2000" dirty="0"/>
              <a:t> </a:t>
            </a:r>
            <a:r>
              <a:rPr lang="en-US" sz="2000" dirty="0" err="1"/>
              <a:t>podem</a:t>
            </a:r>
            <a:r>
              <a:rPr lang="en-US" sz="2000" dirty="0"/>
              <a:t> </a:t>
            </a:r>
            <a:r>
              <a:rPr lang="en-US" sz="2000" dirty="0" err="1"/>
              <a:t>incluir</a:t>
            </a:r>
            <a:r>
              <a:rPr lang="en-US" sz="2000" dirty="0"/>
              <a:t> a </a:t>
            </a:r>
            <a:r>
              <a:rPr lang="en-US" sz="2000" dirty="0" err="1"/>
              <a:t>escalabilidade</a:t>
            </a:r>
            <a:r>
              <a:rPr lang="en-US" sz="2000" dirty="0"/>
              <a:t> para </a:t>
            </a:r>
            <a:r>
              <a:rPr lang="en-US" sz="2000" dirty="0" err="1"/>
              <a:t>suportar</a:t>
            </a:r>
            <a:r>
              <a:rPr lang="en-US" sz="2000" dirty="0"/>
              <a:t> um </a:t>
            </a:r>
            <a:r>
              <a:rPr lang="en-US" sz="2000" dirty="0" err="1"/>
              <a:t>grande</a:t>
            </a:r>
            <a:r>
              <a:rPr lang="en-US" sz="2000" dirty="0"/>
              <a:t>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usuários</a:t>
            </a:r>
            <a:r>
              <a:rPr lang="en-US" sz="2000" dirty="0"/>
              <a:t> </a:t>
            </a:r>
            <a:r>
              <a:rPr lang="en-US" sz="2000" dirty="0" err="1"/>
              <a:t>ao</a:t>
            </a:r>
            <a:r>
              <a:rPr lang="en-US" sz="2000" dirty="0"/>
              <a:t> </a:t>
            </a:r>
            <a:r>
              <a:rPr lang="en-US" sz="2000" dirty="0" err="1"/>
              <a:t>mesmo</a:t>
            </a:r>
            <a:r>
              <a:rPr lang="en-US" sz="2000" dirty="0"/>
              <a:t> tempo, a </a:t>
            </a:r>
            <a:r>
              <a:rPr lang="en-US" sz="2000" dirty="0" err="1"/>
              <a:t>disponibilidade</a:t>
            </a:r>
            <a:r>
              <a:rPr lang="en-US" sz="2000" dirty="0"/>
              <a:t> para que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usuários</a:t>
            </a:r>
            <a:r>
              <a:rPr lang="en-US" sz="2000" dirty="0"/>
              <a:t> </a:t>
            </a:r>
            <a:r>
              <a:rPr lang="en-US" sz="2000" dirty="0" err="1"/>
              <a:t>possam</a:t>
            </a:r>
            <a:r>
              <a:rPr lang="en-US" sz="2000" dirty="0"/>
              <a:t> </a:t>
            </a:r>
            <a:r>
              <a:rPr lang="en-US" sz="2000" dirty="0" err="1"/>
              <a:t>acessar</a:t>
            </a:r>
            <a:r>
              <a:rPr lang="en-US" sz="2000" dirty="0"/>
              <a:t> a </a:t>
            </a:r>
            <a:r>
              <a:rPr lang="en-US" sz="2000" dirty="0" err="1"/>
              <a:t>plataforma</a:t>
            </a:r>
            <a:r>
              <a:rPr lang="en-US" sz="2000" dirty="0"/>
              <a:t> a </a:t>
            </a:r>
            <a:r>
              <a:rPr lang="en-US" sz="2000" dirty="0" err="1"/>
              <a:t>qualquer</a:t>
            </a:r>
            <a:r>
              <a:rPr lang="en-US" sz="2000" dirty="0"/>
              <a:t> </a:t>
            </a:r>
            <a:r>
              <a:rPr lang="en-US" sz="2000" dirty="0" err="1"/>
              <a:t>momento</a:t>
            </a:r>
            <a:r>
              <a:rPr lang="en-US" sz="2000" dirty="0"/>
              <a:t> e o </a:t>
            </a:r>
            <a:r>
              <a:rPr lang="en-US" sz="2000" dirty="0" err="1"/>
              <a:t>desempenho</a:t>
            </a:r>
            <a:r>
              <a:rPr lang="en-US" sz="2000" dirty="0"/>
              <a:t> para que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jogos</a:t>
            </a:r>
            <a:r>
              <a:rPr lang="en-US" sz="2000" dirty="0"/>
              <a:t> </a:t>
            </a:r>
            <a:r>
              <a:rPr lang="en-US" sz="2000" dirty="0" err="1"/>
              <a:t>sejam</a:t>
            </a:r>
            <a:r>
              <a:rPr lang="en-US" sz="2000" dirty="0"/>
              <a:t> </a:t>
            </a:r>
            <a:r>
              <a:rPr lang="en-US" sz="2000" dirty="0" err="1"/>
              <a:t>executados</a:t>
            </a:r>
            <a:r>
              <a:rPr lang="en-US" sz="2000" dirty="0"/>
              <a:t> </a:t>
            </a:r>
            <a:r>
              <a:rPr lang="en-US" sz="2000" dirty="0" err="1"/>
              <a:t>sem</a:t>
            </a:r>
            <a:r>
              <a:rPr lang="en-US" sz="2000" dirty="0"/>
              <a:t> </a:t>
            </a:r>
            <a:r>
              <a:rPr lang="en-US" sz="2000" dirty="0" err="1"/>
              <a:t>atrasos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Com base nesses </a:t>
            </a:r>
            <a:r>
              <a:rPr lang="en-US" sz="2000" dirty="0" err="1"/>
              <a:t>requisitos</a:t>
            </a:r>
            <a:r>
              <a:rPr lang="en-US" sz="2000" dirty="0"/>
              <a:t>, </a:t>
            </a:r>
            <a:r>
              <a:rPr lang="en-US" sz="2000" dirty="0" err="1"/>
              <a:t>seria</a:t>
            </a:r>
            <a:r>
              <a:rPr lang="en-US" sz="2000" dirty="0"/>
              <a:t> </a:t>
            </a:r>
            <a:r>
              <a:rPr lang="en-US" sz="2000" dirty="0" err="1"/>
              <a:t>necessário</a:t>
            </a:r>
            <a:r>
              <a:rPr lang="en-US" sz="2000" dirty="0"/>
              <a:t> </a:t>
            </a:r>
            <a:r>
              <a:rPr lang="en-US" sz="2000" dirty="0" err="1"/>
              <a:t>escolher</a:t>
            </a:r>
            <a:r>
              <a:rPr lang="en-US" sz="2000" dirty="0"/>
              <a:t> a </a:t>
            </a:r>
            <a:r>
              <a:rPr lang="en-US" sz="2000" dirty="0" err="1"/>
              <a:t>melhor</a:t>
            </a:r>
            <a:r>
              <a:rPr lang="en-US" sz="2000" dirty="0"/>
              <a:t> </a:t>
            </a:r>
            <a:r>
              <a:rPr lang="en-US" sz="2000" dirty="0" err="1"/>
              <a:t>estratégia</a:t>
            </a:r>
            <a:r>
              <a:rPr lang="en-US" sz="2000" dirty="0"/>
              <a:t> de </a:t>
            </a:r>
            <a:r>
              <a:rPr lang="en-US" sz="2000" dirty="0" err="1"/>
              <a:t>escalonamento</a:t>
            </a:r>
            <a:r>
              <a:rPr lang="en-US" sz="2000" dirty="0"/>
              <a:t> para a </a:t>
            </a:r>
            <a:r>
              <a:rPr lang="en-US" sz="2000" dirty="0" err="1"/>
              <a:t>arquitetura</a:t>
            </a:r>
            <a:r>
              <a:rPr lang="en-US" sz="2000" dirty="0"/>
              <a:t> de dados. </a:t>
            </a:r>
            <a:r>
              <a:rPr lang="en-US" sz="2000" dirty="0" err="1"/>
              <a:t>Nesse</a:t>
            </a:r>
            <a:r>
              <a:rPr lang="en-US" sz="2000" dirty="0"/>
              <a:t> </a:t>
            </a:r>
            <a:r>
              <a:rPr lang="en-US" sz="2000" dirty="0" err="1"/>
              <a:t>caso</a:t>
            </a:r>
            <a:r>
              <a:rPr lang="en-US" sz="2000" dirty="0"/>
              <a:t>, o </a:t>
            </a:r>
            <a:r>
              <a:rPr lang="en-US" sz="2000" dirty="0" err="1"/>
              <a:t>escalonamento</a:t>
            </a:r>
            <a:r>
              <a:rPr lang="en-US" sz="2000" dirty="0"/>
              <a:t> horizontal </a:t>
            </a:r>
            <a:r>
              <a:rPr lang="en-US" sz="2000" dirty="0" err="1"/>
              <a:t>pode</a:t>
            </a:r>
            <a:r>
              <a:rPr lang="en-US" sz="2000" dirty="0"/>
              <a:t> ser a </a:t>
            </a:r>
            <a:r>
              <a:rPr lang="en-US" sz="2000" dirty="0" err="1"/>
              <a:t>escolha</a:t>
            </a:r>
            <a:r>
              <a:rPr lang="en-US" sz="2000" dirty="0"/>
              <a:t>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adequada</a:t>
            </a:r>
            <a:r>
              <a:rPr lang="en-US" sz="2000" dirty="0"/>
              <a:t>, </a:t>
            </a:r>
            <a:r>
              <a:rPr lang="en-US" sz="2000" dirty="0" err="1"/>
              <a:t>já</a:t>
            </a:r>
            <a:r>
              <a:rPr lang="en-US" sz="2000" dirty="0"/>
              <a:t> que a </a:t>
            </a:r>
            <a:r>
              <a:rPr lang="en-US" sz="2000" dirty="0" err="1"/>
              <a:t>plataforma</a:t>
            </a:r>
            <a:r>
              <a:rPr lang="en-US" sz="2000" dirty="0"/>
              <a:t> de </a:t>
            </a:r>
            <a:r>
              <a:rPr lang="en-US" sz="2000" dirty="0" err="1"/>
              <a:t>jogos</a:t>
            </a:r>
            <a:r>
              <a:rPr lang="en-US" sz="2000" dirty="0"/>
              <a:t> online </a:t>
            </a:r>
            <a:r>
              <a:rPr lang="en-US" sz="2000" dirty="0" err="1"/>
              <a:t>deve</a:t>
            </a:r>
            <a:r>
              <a:rPr lang="en-US" sz="2000" dirty="0"/>
              <a:t> </a:t>
            </a:r>
            <a:r>
              <a:rPr lang="en-US" sz="2000" dirty="0" err="1"/>
              <a:t>suportar</a:t>
            </a:r>
            <a:r>
              <a:rPr lang="en-US" sz="2000" dirty="0"/>
              <a:t> um </a:t>
            </a:r>
            <a:r>
              <a:rPr lang="en-US" sz="2000" dirty="0" err="1"/>
              <a:t>grande</a:t>
            </a:r>
            <a:r>
              <a:rPr lang="en-US" sz="2000" dirty="0"/>
              <a:t>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usuários</a:t>
            </a:r>
            <a:r>
              <a:rPr lang="en-US" sz="2000" dirty="0"/>
              <a:t> </a:t>
            </a:r>
            <a:r>
              <a:rPr lang="en-US" sz="2000" dirty="0" err="1"/>
              <a:t>simultâneos</a:t>
            </a:r>
            <a:r>
              <a:rPr lang="en-US" sz="2000" dirty="0"/>
              <a:t>. </a:t>
            </a:r>
            <a:r>
              <a:rPr lang="en-US" sz="2000" dirty="0" err="1"/>
              <a:t>Além</a:t>
            </a:r>
            <a:r>
              <a:rPr lang="en-US" sz="2000" dirty="0"/>
              <a:t> </a:t>
            </a:r>
            <a:r>
              <a:rPr lang="en-US" sz="2000" dirty="0" err="1"/>
              <a:t>disso</a:t>
            </a:r>
            <a:r>
              <a:rPr lang="en-US" sz="2000" dirty="0"/>
              <a:t>, </a:t>
            </a:r>
            <a:r>
              <a:rPr lang="en-US" sz="2000" dirty="0" err="1"/>
              <a:t>seria</a:t>
            </a:r>
            <a:r>
              <a:rPr lang="en-US" sz="2000" dirty="0"/>
              <a:t> </a:t>
            </a:r>
            <a:r>
              <a:rPr lang="en-US" sz="2000" dirty="0" err="1"/>
              <a:t>necessário</a:t>
            </a:r>
            <a:r>
              <a:rPr lang="en-US" sz="2000" dirty="0"/>
              <a:t> </a:t>
            </a:r>
            <a:r>
              <a:rPr lang="en-US" sz="2000" dirty="0" err="1"/>
              <a:t>escolher</a:t>
            </a:r>
            <a:r>
              <a:rPr lang="en-US" sz="2000" dirty="0"/>
              <a:t> as </a:t>
            </a:r>
            <a:r>
              <a:rPr lang="en-US" sz="2000" dirty="0" err="1"/>
              <a:t>tecnologias</a:t>
            </a:r>
            <a:r>
              <a:rPr lang="en-US" sz="2000" dirty="0"/>
              <a:t> e ferramentas </a:t>
            </a:r>
            <a:r>
              <a:rPr lang="en-US" sz="2000" dirty="0" err="1"/>
              <a:t>adequadas</a:t>
            </a:r>
            <a:r>
              <a:rPr lang="en-US" sz="2000" dirty="0"/>
              <a:t> para </a:t>
            </a:r>
            <a:r>
              <a:rPr lang="en-US" sz="2000" dirty="0" err="1"/>
              <a:t>suportar</a:t>
            </a:r>
            <a:r>
              <a:rPr lang="en-US" sz="2000" dirty="0"/>
              <a:t> a </a:t>
            </a:r>
            <a:r>
              <a:rPr lang="en-US" sz="2000" dirty="0" err="1"/>
              <a:t>arquitetura</a:t>
            </a:r>
            <a:r>
              <a:rPr lang="en-US" sz="2000" dirty="0"/>
              <a:t>,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bancos</a:t>
            </a:r>
            <a:r>
              <a:rPr lang="en-US" sz="2000" dirty="0"/>
              <a:t> de dados </a:t>
            </a:r>
            <a:r>
              <a:rPr lang="en-US" sz="2000" dirty="0" err="1"/>
              <a:t>distribuídos</a:t>
            </a:r>
            <a:r>
              <a:rPr lang="en-US" sz="2000" dirty="0"/>
              <a:t> e </a:t>
            </a:r>
            <a:r>
              <a:rPr lang="en-US" sz="2000" dirty="0" err="1"/>
              <a:t>balanceamento</a:t>
            </a:r>
            <a:r>
              <a:rPr lang="en-US" sz="2000" dirty="0"/>
              <a:t> de carga.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000" dirty="0"/>
          </a:p>
        </p:txBody>
      </p:sp>
      <p:sp>
        <p:nvSpPr>
          <p:cNvPr id="2" name="CaixaDeTexto 1"/>
          <p:cNvSpPr txBox="1"/>
          <p:nvPr/>
        </p:nvSpPr>
        <p:spPr>
          <a:xfrm>
            <a:off x="443211" y="145344"/>
            <a:ext cx="101705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Análise de requisitos - Exemplo</a:t>
            </a:r>
          </a:p>
        </p:txBody>
      </p:sp>
    </p:spTree>
    <p:extLst>
      <p:ext uri="{BB962C8B-B14F-4D97-AF65-F5344CB8AC3E}">
        <p14:creationId xmlns:p14="http://schemas.microsoft.com/office/powerpoint/2010/main" val="2066933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3433BBC-8481-4702-BA12-BCD091ADA0BE}"/>
              </a:ext>
            </a:extLst>
          </p:cNvPr>
          <p:cNvSpPr txBox="1"/>
          <p:nvPr/>
        </p:nvSpPr>
        <p:spPr>
          <a:xfrm>
            <a:off x="-1" y="2596119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</a:rPr>
              <a:t>Definição de metas e objetivos</a:t>
            </a:r>
          </a:p>
        </p:txBody>
      </p:sp>
    </p:spTree>
    <p:extLst>
      <p:ext uri="{BB962C8B-B14F-4D97-AF65-F5344CB8AC3E}">
        <p14:creationId xmlns:p14="http://schemas.microsoft.com/office/powerpoint/2010/main" val="198676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43211" y="1914005"/>
            <a:ext cx="11137392" cy="182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definição de metas e objetivos é uma etapa crucial na definição de uma arquitetura de dados escalável. Os principais objetivos do projeto devem ser claramente definidos, como a escalabilidade, a disponibilidade e o desempenho.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443211" y="145344"/>
            <a:ext cx="101705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Definição de metas e objetivos</a:t>
            </a:r>
          </a:p>
        </p:txBody>
      </p:sp>
    </p:spTree>
    <p:extLst>
      <p:ext uri="{BB962C8B-B14F-4D97-AF65-F5344CB8AC3E}">
        <p14:creationId xmlns:p14="http://schemas.microsoft.com/office/powerpoint/2010/main" val="2279516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43211" y="1914005"/>
            <a:ext cx="11137392" cy="3699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200" dirty="0"/>
              <a:t>Por exemplo, se o projeto envolver a criação de uma plataforma de comércio eletrônico, um dos principais objetivos pode ser a capacidade de suportar um grande número de usuários simultâneos. Isso requer uma arquitetura escalável capaz de lidar com o aumento do tráfego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200" dirty="0"/>
              <a:t>Outro exemplo pode ser a criação de um sistema de processamento de pagamentos online. Nesse caso, a disponibilidade é um objetivo fundamental, uma vez que os clientes esperam que o sistema esteja sempre disponível para processar transações. A arquitetura de dados deve ser projetada para garantir a disponibilidade do sistema em todos os momentos.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443211" y="145344"/>
            <a:ext cx="101705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Definição de metas e objetivos</a:t>
            </a:r>
          </a:p>
        </p:txBody>
      </p:sp>
    </p:spTree>
    <p:extLst>
      <p:ext uri="{BB962C8B-B14F-4D97-AF65-F5344CB8AC3E}">
        <p14:creationId xmlns:p14="http://schemas.microsoft.com/office/powerpoint/2010/main" val="1302086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43211" y="1914005"/>
            <a:ext cx="11137392" cy="2827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200" dirty="0"/>
              <a:t>Além disso, o desempenho também é um objetivo importante em muitos projetos. Por exemplo, se o projeto envolver a criação de uma aplicação de streaming de vídeo, o desempenho será fundamental para garantir que os vídeos sejam executados sem atrasos. A arquitetura de dados deve ser projetada para suportar um alto volume de tráfego e garantir o desempenho da aplicação.</a:t>
            </a:r>
          </a:p>
          <a:p>
            <a:pPr>
              <a:lnSpc>
                <a:spcPts val="3400"/>
              </a:lnSpc>
              <a:spcAft>
                <a:spcPts val="1200"/>
              </a:spcAft>
            </a:pPr>
            <a:endParaRPr lang="pt-BR" sz="2200" dirty="0"/>
          </a:p>
        </p:txBody>
      </p:sp>
      <p:sp>
        <p:nvSpPr>
          <p:cNvPr id="2" name="CaixaDeTexto 1"/>
          <p:cNvSpPr txBox="1"/>
          <p:nvPr/>
        </p:nvSpPr>
        <p:spPr>
          <a:xfrm>
            <a:off x="443211" y="145344"/>
            <a:ext cx="101705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Definição de metas e objetivos</a:t>
            </a:r>
          </a:p>
        </p:txBody>
      </p:sp>
    </p:spTree>
    <p:extLst>
      <p:ext uri="{BB962C8B-B14F-4D97-AF65-F5344CB8AC3E}">
        <p14:creationId xmlns:p14="http://schemas.microsoft.com/office/powerpoint/2010/main" val="580356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2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12390</TotalTime>
  <Words>720</Words>
  <Application>Microsoft Macintosh PowerPoint</Application>
  <PresentationFormat>Widescreen</PresentationFormat>
  <Paragraphs>36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2_1 -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Microsoft Office User</cp:lastModifiedBy>
  <cp:revision>89</cp:revision>
  <dcterms:created xsi:type="dcterms:W3CDTF">2020-01-14T17:16:45Z</dcterms:created>
  <dcterms:modified xsi:type="dcterms:W3CDTF">2023-08-31T17:43:36Z</dcterms:modified>
</cp:coreProperties>
</file>